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Framing: this is a joint fact-finding session, not a defect report. The Conditional Access block is correct-by-design. Scope is GPD Central only — Conseiller is a separate product and a separate assessment. Say that out loud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cooperative. State plainly that the CA block is not a Desjardins misconfiguration and not an accusation against Croesus.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executive summary. If the session ends after five minutes, these five lines are what must land. Scope: Central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credibility slide. Showing what we refuse to over-claim earns the right to the ask on slide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 Mathieu for capturing this. Emphasise that this confirms what Croesus said — we are validating the vendor, not contradicting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slide. Neither explanation is a crisis and both have small remediations. Q8 separates them in one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point technically, not accusingly: this is a platform rule, not an opinion. It is also cheap to fix on either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panel renders without signing in, so it can be walked through on screen share. Q7, Q8, Q15, and the full question list are clickable straight from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raw Origin header is never a field in the tenant sign-in logs. It exists only on the HTTP request the caller sends to Entra.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redaction rule up front — it is what makes Q7 answerable by a security-conscious vendor. Q8 leads because it can end the ambiguity in a single reply.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point: every route is small and reversible. Nobody needs a re-architecture and Desjardins does not need to weaken CA. On device trust — credit Mathieu Santerre for the correction: the inbound trust settings honour a device claim carried in a guest's token from their home tenant, so they cannot bridge Prod device state into a native non-prod sign-in. Do not use the .NET 4.5.2 support status as leverage — raise it separately through vendor risk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order: sign in, Call API, show the evidence panel, then the replay button, then scroll to the registration-fork panel and click through to Q7/Q8/Q15.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restating the guardrail. It protects both parties: no premature policy loosening, no premature vendor re-architecture. Item 1 is ours and needs nobody's permission.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the deck itself — every link is clickable in slideshow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assets/croesus-3way-session-findings.md" TargetMode="External"/><Relationship Id="rId3" Type="http://schemas.openxmlformats.org/officeDocument/2006/relationships/hyperlink" Target="https://github.com/devopsabcs-engineering/croesus/blob/main/assets/croesus-escalation-packet.md#2-questions-for-croesus" TargetMode="External"/><Relationship Id="rId4" Type="http://schemas.openxmlformats.org/officeDocument/2006/relationships/hyperlink" Target="https://croesus-spa.azurewebsites.net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croesus-spa.azurewebsites.net" TargetMode="Externa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README.md#who-can-capture-the-token-origin-header" TargetMode="Externa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assets/croesus-escalation-packet.md#2-questions-for-croesus" TargetMode="Externa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roesus-spa.azurewebsites.net" TargetMode="External"/><Relationship Id="rId3" Type="http://schemas.openxmlformats.org/officeDocument/2006/relationships/hyperlink" Target="https://github.com/devopsabcs-engineering/croesus/blob/main/docs/obo-demo-guide.md" TargetMode="External"/><Relationship Id="rId4" Type="http://schemas.openxmlformats.org/officeDocument/2006/relationships/hyperlink" Target="https://github.com/devopsabcs-engineering/croesus/blob/main/docs/evidence-narrative.md" TargetMode="External"/><Relationship Id="rId5" Type="http://schemas.openxmlformats.org/officeDocument/2006/relationships/hyperlink" Target="https://github.com/devopsabcs-engineering/croesus/blob/main/scripts/evidence-kql.kusto" TargetMode="External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assets/croesus-3way-session-findings.md" TargetMode="External"/><Relationship Id="rId3" Type="http://schemas.openxmlformats.org/officeDocument/2006/relationships/hyperlink" Target="https://github.com/devopsabcs-engineering/croesus/blob/main/assets/croesus-3way-session-findings.md#4-routes-and-workarounds" TargetMode="External"/><Relationship Id="rId4" Type="http://schemas.openxmlformats.org/officeDocument/2006/relationships/hyperlink" Target="https://github.com/devopsabcs-engineering/croesus/blob/main/assets/croesus-escalation-packet.md#2-questions-for-croesus" TargetMode="External"/><Relationship Id="rId5" Type="http://schemas.openxmlformats.org/officeDocument/2006/relationships/hyperlink" Target="https://github.com/devopsabcs-engineering/croesus/blob/main/assets/croesus-escalation-packet.md" TargetMode="External"/><Relationship Id="rId6" Type="http://schemas.openxmlformats.org/officeDocument/2006/relationships/hyperlink" Target="https://github.com/devopsabcs-engineering/croesus/blob/main/README.md" TargetMode="External"/><Relationship Id="rId7" Type="http://schemas.openxmlformats.org/officeDocument/2006/relationships/hyperlink" Target="https://github.com/devopsabcs-engineering/croesus/blob/main/README.md#who-can-capture-the-token-origin-header" TargetMode="External"/><Relationship Id="rId8" Type="http://schemas.openxmlformats.org/officeDocument/2006/relationships/hyperlink" Target="https://github.com/devopsabcs-engineering/croesus/blob/main/docs/evidence-narrative.md" TargetMode="External"/><Relationship Id="rId9" Type="http://schemas.openxmlformats.org/officeDocument/2006/relationships/hyperlink" Target="https://github.com/devopsabcs-engineering/croesus/blob/main/docs/obo-demo-guide.md" TargetMode="External"/><Relationship Id="rId10" Type="http://schemas.openxmlformats.org/officeDocument/2006/relationships/hyperlink" Target="https://github.com/devopsabcs-engineering/croesus/blob/main/scripts/evidence-kql.kusto" TargetMode="External"/><Relationship Id="rId11" Type="http://schemas.openxmlformats.org/officeDocument/2006/relationships/hyperlink" Target="https://croesus-spa.azurewebsites.net" TargetMode="External"/><Relationship Id="rId1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0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FC4FF"/>
                </a:solidFill>
                <a:latin typeface="Segoe UI"/>
              </a:rPr>
              <a:t>DESJARDINS — CROESUS — MICROSOFT  |  JOINT WORKING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GPD Central SSO: what the evidence proves,
and the routes that close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65656"/>
                </a:solidFill>
                <a:latin typeface="Segoe UI"/>
              </a:rPr>
              <a:t>Entra ID app registrations, Conditional Access, and the server-side /token redemption  |  Central only — not Conseiller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65656"/>
                </a:solidFill>
                <a:latin typeface="Segoe UI"/>
              </a:rPr>
              <a:t>5 August 2026  —  updated after the three-way 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2"/>
              </a:rPr>
              <a:t>▶  Session findings and all nine routes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3"/>
              </a:rPr>
              <a:t>▶  Question list (Q1–Q15) on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4"/>
              </a:rPr>
              <a:t>▶  Live demo — croesus-spa.azurewebsites.net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WHY WE ARE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question on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0">
                <a:solidFill>
                  <a:srgbClr val="1A1A1A"/>
                </a:solidFill>
                <a:latin typeface="Segoe UI"/>
              </a:rPr>
              <a:t>Desjardins users sign in to GPD Central. A </a:t>
            </a:r>
            <a:r>
              <a:rPr sz="1900" b="1">
                <a:solidFill>
                  <a:srgbClr val="1A1A1A"/>
                </a:solidFill>
                <a:latin typeface="Segoe UI"/>
              </a:rPr>
              <a:t>second, non-interactive sign-in</a:t>
            </a:r>
            <a:r>
              <a:rPr sz="1900" b="0">
                <a:solidFill>
                  <a:srgbClr val="1A1A1A"/>
                </a:solidFill>
                <a:latin typeface="Segoe UI"/>
              </a:rPr>
              <a:t> then arrives from the Croesus AWS backend and is </a:t>
            </a:r>
            <a:r>
              <a:rPr sz="1900" b="1">
                <a:solidFill>
                  <a:srgbClr val="1A1A1A"/>
                </a:solidFill>
                <a:latin typeface="Segoe UI"/>
              </a:rPr>
              <a:t>blocked by Conditional Access</a:t>
            </a:r>
            <a:r>
              <a:rPr sz="1900" b="0">
                <a:solidFill>
                  <a:srgbClr val="1A1A1A"/>
                </a:solidFill>
                <a:latin typeface="Segoe UI"/>
              </a:rPr>
              <a:t> in non-prod.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1">
                <a:solidFill>
                  <a:srgbClr val="1A1A1A"/>
                </a:solidFill>
                <a:latin typeface="Segoe UI"/>
              </a:rPr>
              <a:t>One question: is that expected OAuth behaviour, or a misconfiguration?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0">
                <a:solidFill>
                  <a:srgbClr val="1A1A1A"/>
                </a:solidFill>
                <a:latin typeface="Segoe UI"/>
              </a:rPr>
              <a:t>The answer decides the remedy — an </a:t>
            </a:r>
            <a:r>
              <a:rPr sz="1900" b="1">
                <a:solidFill>
                  <a:srgbClr val="1A1A1A"/>
                </a:solidFill>
                <a:latin typeface="Segoe UI"/>
              </a:rPr>
              <a:t>internal Desjardins change</a:t>
            </a:r>
            <a:r>
              <a:rPr sz="1900" b="0">
                <a:solidFill>
                  <a:srgbClr val="1A1A1A"/>
                </a:solidFill>
                <a:latin typeface="Segoe UI"/>
              </a:rPr>
              <a:t> or a </a:t>
            </a:r>
            <a:r>
              <a:rPr sz="1900" b="1">
                <a:solidFill>
                  <a:srgbClr val="1A1A1A"/>
                </a:solidFill>
                <a:latin typeface="Segoe UI"/>
              </a:rPr>
              <a:t>vendor-side change at Croesus</a:t>
            </a:r>
            <a:r>
              <a:rPr sz="1900" b="0">
                <a:solidFill>
                  <a:srgbClr val="1A1A1A"/>
                </a:solidFill>
                <a:latin typeface="Segoe UI"/>
              </a:rPr>
              <a:t>.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0">
                <a:solidFill>
                  <a:srgbClr val="1A1A1A"/>
                </a:solidFill>
                <a:latin typeface="Segoe UI"/>
              </a:rPr>
              <a:t>Nobody is at fault yet. The block is a Zero Trust control working as designed; the open item is what the blocked call actually 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WHERE WE STAND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Bottom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Central’s UI topology is </a:t>
            </a:r>
            <a:r>
              <a:rPr sz="1700" b="1">
                <a:solidFill>
                  <a:srgbClr val="1A1A1A"/>
                </a:solidFill>
                <a:latin typeface="Segoe UI"/>
              </a:rPr>
              <a:t>unresolved</a:t>
            </a:r>
            <a:r>
              <a:rPr sz="1700" b="0">
                <a:solidFill>
                  <a:srgbClr val="1A1A1A"/>
                </a:solidFill>
                <a:latin typeface="Segoe UI"/>
              </a:rPr>
              <a:t>: SPA, multi-page Web Forms, and hybrid all remain possible. One URL, .aspx paths, and PKCE do not classify it.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SPA and BFF are compatible. </a:t>
            </a:r>
            <a:r>
              <a:rPr sz="1700" b="0">
                <a:solidFill>
                  <a:srgbClr val="1A1A1A"/>
                </a:solidFill>
                <a:latin typeface="Segoe UI"/>
              </a:rPr>
              <a:t>Treat the BFF label as provisional until Q15 confirms token custody, cookie properties, and backend mediation.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Registration type follows the </a:t>
            </a:r>
            <a:r>
              <a:rPr sz="1700" b="1">
                <a:solidFill>
                  <a:srgbClr val="1A1A1A"/>
                </a:solidFill>
                <a:latin typeface="Segoe UI"/>
              </a:rPr>
              <a:t>code redeemer</a:t>
            </a:r>
            <a:r>
              <a:rPr sz="1700" b="0">
                <a:solidFill>
                  <a:srgbClr val="1A1A1A"/>
                </a:solidFill>
                <a:latin typeface="Segoe UI"/>
              </a:rPr>
              <a:t>. If the same backend redeems and retains tokens, it is a confidential ‘web’ client. A separate browser public client may legitimately remain ‘spa’.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The prod/non-prod split is </a:t>
            </a:r>
            <a:r>
              <a:rPr sz="1700" b="1">
                <a:solidFill>
                  <a:srgbClr val="1A1A1A"/>
                </a:solidFill>
                <a:latin typeface="Segoe UI"/>
              </a:rPr>
              <a:t>not yet explained</a:t>
            </a:r>
            <a:r>
              <a:rPr sz="1700" b="0">
                <a:solidFill>
                  <a:srgbClr val="1A1A1A"/>
                </a:solidFill>
                <a:latin typeface="Segoe UI"/>
              </a:rPr>
              <a:t> — the blocked leg carries no device context in either tenant. Desjardins can settle this alone, this week.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The Conditional Access block is </a:t>
            </a:r>
            <a:r>
              <a:rPr sz="1700" b="1">
                <a:solidFill>
                  <a:srgbClr val="1A1A1A"/>
                </a:solidFill>
                <a:latin typeface="Segoe UI"/>
              </a:rPr>
              <a:t>correct-by-design</a:t>
            </a:r>
            <a:r>
              <a:rPr sz="1700" b="0">
                <a:solidFill>
                  <a:srgbClr val="1A1A1A"/>
                </a:solidFill>
                <a:latin typeface="Segoe UI"/>
              </a:rPr>
              <a:t>. The “Unbound (1008)” line is a binding status, not proof of replay and not a grant classifier.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What the evidence does — and does not — 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251960"/>
              </a:tblGrid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Observation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proves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does NOT prove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Calls to /oauth2/v2.0/token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A token is being requested at the standard endpoint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 OBO. Code redemption and refresh use the same endpoint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Sign-in status “Unbound (1008)”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The client is not integrated with the platform broker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 token replay. Not a grant type. Out of scope for browser→Graph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Conditional Access blocked the call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The request lacked compliant-device context from an untrusted 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Nothing about which grant was used — CA is grant-agnostic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Three exported registrations are ‘spa’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 secret, no certificate, no exposed API scope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 the full inventory — other registrations may exist (Q8)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STEP 1 — DONE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New evidence: the browser trace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65656"/>
                </a:solidFill>
                <a:latin typeface="Segoe UI"/>
              </a:rPr>
              <a:t>A Desjardins user captured a HAR of a real Central sign-in.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52578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5257800" cy="63500"/>
          </a:xfrm>
          <a:prstGeom prst="rect">
            <a:avLst/>
          </a:prstGeom>
          <a:solidFill>
            <a:srgbClr val="0A7D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328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A7D28"/>
                </a:solidFill>
                <a:latin typeface="Segoe UI"/>
              </a:rPr>
              <a:t>Present in the trace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480060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/oauth2/v2.0/authorize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The front-channel leg runs in the user's browser, as expected.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331720"/>
            <a:ext cx="52578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63640" y="2331720"/>
            <a:ext cx="5257800" cy="63500"/>
          </a:xfrm>
          <a:prstGeom prst="rect">
            <a:avLst/>
          </a:prstGeom>
          <a:solidFill>
            <a:srgbClr val="B00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5328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00020"/>
                </a:solidFill>
                <a:latin typeface="Segoe UI"/>
              </a:rPr>
              <a:t>Absent from the trace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108960"/>
            <a:ext cx="480060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/oauth2/v2.0/token — no occurrence at all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The code leaves the browser but is redeemed elsewhere.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663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1B3D"/>
                </a:solidFill>
                <a:latin typeface="Segoe UI"/>
              </a:rPr>
              <a:t>Conclusion: /token did not occur in this sampled browser transaction. That is consistent with Olivier's account, but does not independently identify the redeemer.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578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65656"/>
                </a:solidFill>
                <a:latin typeface="Segoe UI"/>
              </a:rPr>
              <a:t>Consequence: this HAR cannot classify the UI or prove the BFF boundary. Q7, Q8, and Q15 request the missing evidence. Caveat: one sample, one environment.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IF BACKEND REDEMPTION IS CONFIRMED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two explanations left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65656"/>
                </a:solidFill>
                <a:latin typeface="Segoe UI"/>
              </a:rPr>
              <a:t>Entra rejects a plain server-side redemption of a ‘spa’ authorization code with AADSTS9002327. Central works in Prod, so the same backend redeems and retains tokens, Prod success leaves two explanations.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52578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5257800" cy="63500"/>
          </a:xfrm>
          <a:prstGeom prst="rect">
            <a:avLst/>
          </a:prstGeom>
          <a:solidFill>
            <a:srgbClr val="B00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5292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00020"/>
                </a:solidFill>
                <a:latin typeface="Segoe UI"/>
              </a:rPr>
              <a:t>1 — A synthesised Origin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29000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A server-to-server POST sets no Origin of its own.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If one is present, application code is adding it — and a spa-typed code is surviving a rule Entra wrote to reject it.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Fix: register Central as a ‘web’ confidential client. Prove it with a client secret — no library, no framework uplift — then harden with a certificate.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51760"/>
            <a:ext cx="52578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63640" y="2651760"/>
            <a:ext cx="5257800" cy="63500"/>
          </a:xfrm>
          <a:prstGeom prst="rect">
            <a:avLst/>
          </a:prstGeom>
          <a:solidFill>
            <a:srgbClr val="8A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85292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A6D00"/>
                </a:solidFill>
                <a:latin typeface="Segoe UI"/>
              </a:rPr>
              <a:t>2 — An undisclosed ‘web’ registration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429000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The backend authenticates as something outside our three exports.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Then the shape is already correct and we have simply never been shown it.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Fix: Croesus discloses the complete inventory (Q8); any accommodation is scoped to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65656"/>
                </a:solidFill>
                <a:latin typeface="Segoe UI"/>
              </a:rPr>
              <a:t>Separately, and still open: the blocked leg carries no device context in EITHER tenant, yet Prod passes. That is Desjardins’ to settle from its own policy inventory and sign-in logs.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Why the registration shape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4361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160520"/>
              </a:tblGrid>
              <a:tr h="62309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spa (public client)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web (confidential client)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Describes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A browser public client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A confidential server client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Credential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None — no secret, no certificate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Secret or certificate required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Redeems a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Only from a cross-origin browser request (Origin header)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From a server, no Origin required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Server-side redemption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Rejected: AADSTS9002327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Supported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Refresh token lifetime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Capped at 24 hours, non-sliding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Not capped that way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31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Decision evidence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Browser redeems and holds tokens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Backend redeems and holds tokens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1B3D"/>
                </a:solidFill>
                <a:latin typeface="Segoe UI"/>
              </a:rPr>
              <a:t>“Tokens issued for the 'Single-Page Application' client-type may only be redeemed via cross-origin requests.”  — AADSTS9002327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SCREENSHOT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same architecture fork, live in the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rk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059" y="1783080"/>
            <a:ext cx="4351577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41908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latin typeface="Segoe UI"/>
                <a:hlinkClick r:id="rId3"/>
              </a:rPr>
              <a:t>▶  Open it live — croesus-spa.azurewebsites.net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OWNERSHIP OF THE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Who can answer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291840"/>
                <a:gridCol w="2971800"/>
              </a:tblGrid>
              <a:tr h="6172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Question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Who can answer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Complete registration / service-principal 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OPEN — Q8, the primary ask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Origin header on the server-side /token call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 only — their outbound request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Open — Q7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Which auth library, and any .NET uplift on the roadmap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Open — Q13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How Prod and non-prod scope CA for Central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Desjardins — own policy inventory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In progress — highest value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Origin header on a browser-side /token call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Desjardins — browser DevTools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Ruled out — no /token in the HAR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715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latin typeface="Segoe UI"/>
                <a:hlinkClick r:id="rId2"/>
              </a:rPr>
              <a:t>Details: README — Who can capture the /token Origin header 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WHAT WE NEED FROM CROESUS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asks: Q8 first, then Q7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52578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5257800" cy="6350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756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7C0"/>
                </a:solidFill>
                <a:latin typeface="Segoe UI"/>
              </a:rPr>
              <a:t>Q8 — complete registration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80060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Every app registration and service principal GPD Central uses, across environments.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Including any confidential web/API registration that is not among the three spa exports we hold.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One answer separates the two surviving explanations. This is the fastest route to a supported configuration.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74519"/>
            <a:ext cx="52578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63640" y="1874519"/>
            <a:ext cx="5257800" cy="6350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0756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7C0"/>
                </a:solidFill>
                <a:latin typeface="Segoe UI"/>
              </a:rPr>
              <a:t>Q7 — one redacted /token capture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651760"/>
            <a:ext cx="480060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For one successful and one failing transaction: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Is an Origin header present?  •  grant_type  •  client_id  •  redirect URI  •  client-authentication method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Presence indicators or SHA-256 hashes only. Never raw codes, tokens, secrets, or assertions.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663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65656"/>
                </a:solidFill>
                <a:latin typeface="Segoe UI"/>
              </a:rPr>
              <a:t>Also open: Q15 UI and BFF evidence  •  Q13 auth library and .NET roadmap  •  Q10 sizing of the change  •  Q12 route Entra calls over the existing site-to-site VPN  •  Q4 AWS egress ranges  •  Q9 does Conseiller share anything with Central?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7150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latin typeface="Segoe UI"/>
                <a:hlinkClick r:id="rId2"/>
              </a:rPr>
              <a:t>▶  Full question list Q1–Q15 on GitHub 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NINE ROUTES, RANKED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Remediation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Check tenant parity first — Desjardins alone.</a:t>
            </a:r>
            <a:r>
              <a:rPr sz="1700" b="0">
                <a:solidFill>
                  <a:srgbClr val="1A1A1A"/>
                </a:solidFill>
                <a:latin typeface="Segoe UI"/>
              </a:rPr>
              <a:t> Compare how Prod and non-prod scope Conditional Access for Central. No vendor dependency, and it may be the whole fix.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Route Entra calls over the existing site-to-site VPN (Q12).</a:t>
            </a:r>
            <a:r>
              <a:rPr sz="1700" b="0">
                <a:solidFill>
                  <a:srgbClr val="1A1A1A"/>
                </a:solidFill>
                <a:latin typeface="Segoe UI"/>
              </a:rPr>
              <a:t> The /token request then egresses from a Desjardins-owned address. No Croesus code change at all — the strongest short-term lever.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Correct the registration shape — spa → web.</a:t>
            </a:r>
            <a:r>
              <a:rPr sz="1700" b="0">
                <a:solidFill>
                  <a:srgbClr val="1A1A1A"/>
                </a:solidFill>
                <a:latin typeface="Segoe UI"/>
              </a:rPr>
              <a:t> Staged: a client secret proves it with no library and no framework uplift; a certificate hardens it later. Per-tenant, so Desjardins can move first.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Rule out device trust as the lever.</a:t>
            </a:r>
            <a:r>
              <a:rPr sz="1700" b="0">
                <a:solidFill>
                  <a:srgbClr val="1A1A1A"/>
                </a:solidFill>
                <a:latin typeface="Segoe UI"/>
              </a:rPr>
              <a:t> Cross-tenant ‘Trust compliant devices’ only fires on a B2B guest sign-in. Workstations join one tenant — Prod — so in non-prod ‘require compliant device’ is unsatisfiable, not merely strict.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A named location is a condition, not a grant.</a:t>
            </a:r>
            <a:r>
              <a:rPr sz="1700" b="0">
                <a:solidFill>
                  <a:srgbClr val="1A1A1A"/>
                </a:solidFill>
                <a:latin typeface="Segoe UI"/>
              </a:rPr>
              <a:t> Grant controls combine with AND, so a trusted location does not satisfy a compliant-device requirement. On-Behalf-Of remains an option, not a requirement.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REFERENCE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working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0">
                <a:solidFill>
                  <a:srgbClr val="1A1A1A"/>
                </a:solidFill>
                <a:latin typeface="Segoe UI"/>
              </a:rPr>
              <a:t>A live SPA + API in a Microsoft demo tenant that makes the flow shapes observable — nothing runs against Desjardins or Croesus tenants.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Wrong vs right:</a:t>
            </a:r>
            <a:r>
              <a:rPr sz="1600" b="0">
                <a:solidFill>
                  <a:srgbClr val="1A1A1A"/>
                </a:solidFill>
                <a:latin typeface="Segoe UI"/>
              </a:rPr>
              <a:t> a token replay to Microsoft Graph is rejected on audience, while a real On-Behalf-Of exchange issues a distinct, separately audienced token.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The registration fork:</a:t>
            </a:r>
            <a:r>
              <a:rPr sz="1600" b="0">
                <a:solidFill>
                  <a:srgbClr val="1A1A1A"/>
                </a:solidFill>
                <a:latin typeface="Segoe UI"/>
              </a:rPr>
              <a:t> a panel separates UI topology from the redeemer decision, with direct links to Q8, Q7, and Q15.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Token inspector and evidence panel:</a:t>
            </a:r>
            <a:r>
              <a:rPr sz="1600" b="0">
                <a:solidFill>
                  <a:srgbClr val="1A1A1A"/>
                </a:solidFill>
                <a:latin typeface="Segoe UI"/>
              </a:rPr>
              <a:t> decoded claims show audience binding rather than a reused bearer. The raw-token inspector is gated off by default — we ask the vendor for hashes, so we do not demo copying live tokens.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Tier 2 exhibits (gated):</a:t>
            </a:r>
            <a:r>
              <a:rPr sz="1600" b="0">
                <a:solidFill>
                  <a:srgbClr val="1A1A1A"/>
                </a:solidFill>
                <a:latin typeface="Segoe UI"/>
              </a:rPr>
              <a:t> a server-side replay control, and a report-only Token Protection policy that reproduces the real 1008 signal on a supported resource.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406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2"/>
              </a:rPr>
              <a:t>▶  Open the demo — croesus-spa.azurewebsites.net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8521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3"/>
              </a:rPr>
              <a:t>▶  Demo walkthrough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5440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4"/>
              </a:rPr>
              <a:t>▶  Evidence narrative (Q‑by‑Q mapping)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5852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5"/>
              </a:rPr>
              <a:t>▶  Evidence KQL queries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LEAVING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Next steps and owners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4361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937760"/>
                <a:gridCol w="1737360"/>
                <a:gridCol w="3611880"/>
              </a:tblGrid>
              <a:tr h="62309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Action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Owner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Closes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Compare Conditional Access scoping for Central across Prod and non-prod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Desjardins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May be the whole fix — no vendor wait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Provide the complete registration and service-principal inventory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Q8 — primary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Provide one redacted /token capture (hashes / presence only)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Provide UI-topology and BFF-boundary evidence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Q15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Confirm the auth library and any .NET Framework uplift plan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31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Assess routing Entra calls over the existing site-to-site VPN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Joint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Q12 — fastest unblock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6692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00020"/>
                </a:solidFill>
                <a:latin typeface="Segoe UI"/>
              </a:rPr>
              <a:t>Guardrail until then: do not change Conditional Access, do not allowlist the AWS egress IPs, do not mandate On-Behalf-Of, and do not generalise any of this to Conseiller.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EVERYTHING REFERENCED IN THIS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Links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2"/>
              </a:rPr>
              <a:t>▶  Session findings and all nine routes — START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3"/>
              </a:rPr>
              <a:t>▶  Routes and workarounds (R1–R9)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4"/>
              </a:rPr>
              <a:t>▶  Question list Q1–Q15 (escalation packet)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5"/>
              </a:rPr>
              <a:t>▶  Escalation packet — full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6"/>
              </a:rPr>
              <a:t>▶  Full analysis — README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7"/>
              </a:rPr>
              <a:t>▶  Who can capture the /token Origin header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8"/>
              </a:rPr>
              <a:t>▶  Evidence narrative — question-by-question mapping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9"/>
              </a:rPr>
              <a:t>▶  On-Behalf-Of demo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5321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10"/>
              </a:rPr>
              <a:t>▶  Evidence KQL queries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893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11"/>
              </a:rPr>
              <a:t>▶  Live demo application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