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Framing: this is a joint fact-finding session, not a defect report. The Conditional Access block is correct-by-design. We have one open question and two asks that close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cooperative. State plainly that the CA block is not a Desjardins misconfiguration and not an accusation against Croesus.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the executive summary. If the session ends after five minutes, these five lines are what must land.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credibility slide. Showing what we refuse to over-claim earns the right to the ask on slide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 Mathieu for capturing this. Emphasise that this confirms what Croesus said — we are validating the vendor, not contradicting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core hypothesis slide. Exactly one branch is true and each has a different, small remediation. Neither is a crisis.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 point technically, not accusingly: this is a platform rule, not an opinion. It is also cheap to fix on either branch.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panel renders without signing in, so it can be walked through on screen share. Q7, Q8, and the full question list are clickable straight from the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raw Origin header is never a field in the tenant sign-in logs. It exists only on the HTTP request the caller sends to Entra.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the redaction rule up front. It is what makes Q7 answerable by a security-conscious vendor.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point: every branch has a small, reversible fix. Nobody needs a re-architecture, and Desjardins does not need to weaken CA. On device trust — credit Mathieu Santerre for the correction: the inbound trust settings honour a device claim carried in a guest's token from their home tenant, so they cannot bridge Prod device state into a native non-prod sign-in.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order: sign in, Call API, show the evidence panel, then the replay button, then scroll to the registration-fork panel and click through to Q7/Q8.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restating the guardrail. It protects both parties: no premature policy loosening, no premature vendor re-architecture.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 the deck itself — every link is clickable in slideshow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roesus-spa.azurewebsites.net" TargetMode="External"/><Relationship Id="rId3" Type="http://schemas.openxmlformats.org/officeDocument/2006/relationships/hyperlink" Target="https://github.com/devopsabcs-engineering/croesus/blob/main/assets/croesus-escalation-packet.md#2-questions-for-croesus" TargetMode="External"/><Relationship Id="rId4" Type="http://schemas.openxmlformats.org/officeDocument/2006/relationships/hyperlink" Target="https://github.com/devopsabcs-engineering/croesus/blob/main/README.md" TargetMode="Externa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croesus-spa.azurewebsites.net" TargetMode="Externa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evopsabcs-engineering/croesus/blob/main/README.md#who-can-capture-the-token-origin-header" TargetMode="Externa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evopsabcs-engineering/croesus/blob/main/assets/croesus-escalation-packet.md#2-questions-for-croesus" TargetMode="Externa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roesus-spa.azurewebsites.net" TargetMode="External"/><Relationship Id="rId3" Type="http://schemas.openxmlformats.org/officeDocument/2006/relationships/hyperlink" Target="https://github.com/devopsabcs-engineering/croesus/blob/main/docs/obo-demo-guide.md" TargetMode="External"/><Relationship Id="rId4" Type="http://schemas.openxmlformats.org/officeDocument/2006/relationships/hyperlink" Target="https://github.com/devopsabcs-engineering/croesus/blob/main/docs/evidence-narrative.md" TargetMode="External"/><Relationship Id="rId5" Type="http://schemas.openxmlformats.org/officeDocument/2006/relationships/hyperlink" Target="https://github.com/devopsabcs-engineering/croesus/blob/main/scripts/evidence-kql.kusto" TargetMode="External"/><Relationship Id="rId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evopsabcs-engineering/croesus/blob/main/assets/croesus-escalation-packet.md#2-questions-for-croesus" TargetMode="External"/><Relationship Id="rId3" Type="http://schemas.openxmlformats.org/officeDocument/2006/relationships/hyperlink" Target="https://github.com/devopsabcs-engineering/croesus/blob/main/assets/croesus-escalation-packet.md" TargetMode="External"/><Relationship Id="rId4" Type="http://schemas.openxmlformats.org/officeDocument/2006/relationships/hyperlink" Target="https://github.com/devopsabcs-engineering/croesus/blob/main/README.md" TargetMode="External"/><Relationship Id="rId5" Type="http://schemas.openxmlformats.org/officeDocument/2006/relationships/hyperlink" Target="https://github.com/devopsabcs-engineering/croesus/blob/main/README.md#who-can-capture-the-token-origin-header" TargetMode="External"/><Relationship Id="rId6" Type="http://schemas.openxmlformats.org/officeDocument/2006/relationships/hyperlink" Target="https://github.com/devopsabcs-engineering/croesus/blob/main/docs/evidence-narrative.md" TargetMode="External"/><Relationship Id="rId7" Type="http://schemas.openxmlformats.org/officeDocument/2006/relationships/hyperlink" Target="https://github.com/devopsabcs-engineering/croesus/blob/main/docs/obo-demo-guide.md" TargetMode="External"/><Relationship Id="rId8" Type="http://schemas.openxmlformats.org/officeDocument/2006/relationships/hyperlink" Target="https://github.com/devopsabcs-engineering/croesus/blob/main/scripts/evidence-kql.kusto" TargetMode="External"/><Relationship Id="rId9" Type="http://schemas.openxmlformats.org/officeDocument/2006/relationships/hyperlink" Target="https://github.com/devopsabcs-engineering/croesus" TargetMode="External"/><Relationship Id="rId10" Type="http://schemas.openxmlformats.org/officeDocument/2006/relationships/hyperlink" Target="https://croesus-spa.azurewebsites.net" TargetMode="External"/><Relationship Id="rId11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0"/>
          </a:xfrm>
          <a:prstGeom prst="rect">
            <a:avLst/>
          </a:prstGeom>
          <a:solidFill>
            <a:srgbClr val="00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FC4FF"/>
                </a:solidFill>
                <a:latin typeface="Segoe UI"/>
              </a:rPr>
              <a:t>DESJARDINS — CROESUS — MICROSOFT  |  JOINT WORKING SESSION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GPD Central SSO: what the evidence proves,
and the two questions that close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718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65656"/>
                </a:solidFill>
                <a:latin typeface="Segoe UI"/>
              </a:rPr>
              <a:t>Entra ID app registrations, Conditional Access, and the server-side /token redemption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65656"/>
                </a:solidFill>
                <a:latin typeface="Segoe UI"/>
              </a:rPr>
              <a:t>3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latin typeface="Segoe UI"/>
                <a:hlinkClick r:id="rId2"/>
              </a:rPr>
              <a:t>▶  Live demo — croesus-spa.azurewebsites.net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latin typeface="Segoe UI"/>
                <a:hlinkClick r:id="rId3"/>
              </a:rPr>
              <a:t>▶  Question list (Q1–Q9) on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latin typeface="Segoe UI"/>
                <a:hlinkClick r:id="rId4"/>
              </a:rPr>
              <a:t>▶  Full analysis — README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7C0"/>
                </a:solidFill>
                <a:latin typeface="Segoe UI"/>
              </a:rPr>
              <a:t>WHY WE ARE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1B3D"/>
                </a:solidFill>
                <a:latin typeface="Segoe UI"/>
              </a:rPr>
              <a:t>The question on the 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881360" cy="31750"/>
          </a:xfrm>
          <a:prstGeom prst="rect">
            <a:avLst/>
          </a:prstGeom>
          <a:solidFill>
            <a:srgbClr val="006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6596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0067C0"/>
                </a:solidFill>
                <a:latin typeface="Segoe UI"/>
              </a:rPr>
              <a:t>▪  </a:t>
            </a:r>
            <a:r>
              <a:rPr sz="1900" b="0">
                <a:solidFill>
                  <a:srgbClr val="1A1A1A"/>
                </a:solidFill>
                <a:latin typeface="Segoe UI"/>
              </a:rPr>
              <a:t>Desjardins users sign in to GPD Central. A </a:t>
            </a:r>
            <a:r>
              <a:rPr sz="1900" b="1">
                <a:solidFill>
                  <a:srgbClr val="1A1A1A"/>
                </a:solidFill>
                <a:latin typeface="Segoe UI"/>
              </a:rPr>
              <a:t>second, non-interactive sign-in</a:t>
            </a:r>
            <a:r>
              <a:rPr sz="1900" b="0">
                <a:solidFill>
                  <a:srgbClr val="1A1A1A"/>
                </a:solidFill>
                <a:latin typeface="Segoe UI"/>
              </a:rPr>
              <a:t> then arrives from the Croesus AWS backend and is </a:t>
            </a:r>
            <a:r>
              <a:rPr sz="1900" b="1">
                <a:solidFill>
                  <a:srgbClr val="1A1A1A"/>
                </a:solidFill>
                <a:latin typeface="Segoe UI"/>
              </a:rPr>
              <a:t>blocked by Conditional Access</a:t>
            </a:r>
            <a:r>
              <a:rPr sz="1900" b="0">
                <a:solidFill>
                  <a:srgbClr val="1A1A1A"/>
                </a:solidFill>
                <a:latin typeface="Segoe UI"/>
              </a:rPr>
              <a:t> in non-prod.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0067C0"/>
                </a:solidFill>
                <a:latin typeface="Segoe UI"/>
              </a:rPr>
              <a:t>▪  </a:t>
            </a:r>
            <a:r>
              <a:rPr sz="1900" b="1">
                <a:solidFill>
                  <a:srgbClr val="1A1A1A"/>
                </a:solidFill>
                <a:latin typeface="Segoe UI"/>
              </a:rPr>
              <a:t>One question: is that expected OAuth behaviour, or a misconfiguration?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0067C0"/>
                </a:solidFill>
                <a:latin typeface="Segoe UI"/>
              </a:rPr>
              <a:t>▪  </a:t>
            </a:r>
            <a:r>
              <a:rPr sz="1900" b="0">
                <a:solidFill>
                  <a:srgbClr val="1A1A1A"/>
                </a:solidFill>
                <a:latin typeface="Segoe UI"/>
              </a:rPr>
              <a:t>The answer decides the remedy — an </a:t>
            </a:r>
            <a:r>
              <a:rPr sz="1900" b="1">
                <a:solidFill>
                  <a:srgbClr val="1A1A1A"/>
                </a:solidFill>
                <a:latin typeface="Segoe UI"/>
              </a:rPr>
              <a:t>internal Desjardins change</a:t>
            </a:r>
            <a:r>
              <a:rPr sz="1900" b="0">
                <a:solidFill>
                  <a:srgbClr val="1A1A1A"/>
                </a:solidFill>
                <a:latin typeface="Segoe UI"/>
              </a:rPr>
              <a:t> or a </a:t>
            </a:r>
            <a:r>
              <a:rPr sz="1900" b="1">
                <a:solidFill>
                  <a:srgbClr val="1A1A1A"/>
                </a:solidFill>
                <a:latin typeface="Segoe UI"/>
              </a:rPr>
              <a:t>vendor-side change at Croesus</a:t>
            </a:r>
            <a:r>
              <a:rPr sz="1900" b="0">
                <a:solidFill>
                  <a:srgbClr val="1A1A1A"/>
                </a:solidFill>
                <a:latin typeface="Segoe UI"/>
              </a:rPr>
              <a:t>.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0067C0"/>
                </a:solidFill>
                <a:latin typeface="Segoe UI"/>
              </a:rPr>
              <a:t>▪  </a:t>
            </a:r>
            <a:r>
              <a:rPr sz="1900" b="0">
                <a:solidFill>
                  <a:srgbClr val="1A1A1A"/>
                </a:solidFill>
                <a:latin typeface="Segoe UI"/>
              </a:rPr>
              <a:t>Nobody is at fault yet. The block is a Zero Trust control working as designed; the open item is what the blocked call actually 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7C0"/>
                </a:solidFill>
                <a:latin typeface="Segoe UI"/>
              </a:rPr>
              <a:t>WHERE WE STAND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1B3D"/>
                </a:solidFill>
                <a:latin typeface="Segoe UI"/>
              </a:rPr>
              <a:t>Bottom 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881360" cy="31750"/>
          </a:xfrm>
          <a:prstGeom prst="rect">
            <a:avLst/>
          </a:prstGeom>
          <a:solidFill>
            <a:srgbClr val="006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0067C0"/>
                </a:solidFill>
                <a:latin typeface="Segoe UI"/>
              </a:rPr>
              <a:t>▪  </a:t>
            </a:r>
            <a:r>
              <a:rPr sz="1700" b="0">
                <a:solidFill>
                  <a:srgbClr val="1A1A1A"/>
                </a:solidFill>
                <a:latin typeface="Segoe UI"/>
              </a:rPr>
              <a:t>The Conditional Access block is </a:t>
            </a:r>
            <a:r>
              <a:rPr sz="1700" b="1">
                <a:solidFill>
                  <a:srgbClr val="1A1A1A"/>
                </a:solidFill>
                <a:latin typeface="Segoe UI"/>
              </a:rPr>
              <a:t>correct-by-design</a:t>
            </a:r>
            <a:r>
              <a:rPr sz="1700" b="0">
                <a:solidFill>
                  <a:srgbClr val="1A1A1A"/>
                </a:solidFill>
                <a:latin typeface="Segoe UI"/>
              </a:rPr>
              <a:t>. CA reacts to the origin and context of the request, not to the grant type.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0067C0"/>
                </a:solidFill>
                <a:latin typeface="Segoe UI"/>
              </a:rPr>
              <a:t>▪  </a:t>
            </a:r>
            <a:r>
              <a:rPr sz="1700" b="0">
                <a:solidFill>
                  <a:srgbClr val="1A1A1A"/>
                </a:solidFill>
                <a:latin typeface="Segoe UI"/>
              </a:rPr>
              <a:t>The /token redemption is now </a:t>
            </a:r>
            <a:r>
              <a:rPr sz="1700" b="1">
                <a:solidFill>
                  <a:srgbClr val="1A1A1A"/>
                </a:solidFill>
                <a:latin typeface="Segoe UI"/>
              </a:rPr>
              <a:t>confirmed server-side</a:t>
            </a:r>
            <a:r>
              <a:rPr sz="1700" b="0">
                <a:solidFill>
                  <a:srgbClr val="1A1A1A"/>
                </a:solidFill>
                <a:latin typeface="Segoe UI"/>
              </a:rPr>
              <a:t> — a Desjardins browser trace shows /authorize but no /token. This corroborates Croesus.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0067C0"/>
                </a:solidFill>
                <a:latin typeface="Segoe UI"/>
              </a:rPr>
              <a:t>▪  </a:t>
            </a:r>
            <a:r>
              <a:rPr sz="1700" b="0">
                <a:solidFill>
                  <a:srgbClr val="1A1A1A"/>
                </a:solidFill>
                <a:latin typeface="Segoe UI"/>
              </a:rPr>
              <a:t>The grant is </a:t>
            </a:r>
            <a:r>
              <a:rPr sz="1700" b="1">
                <a:solidFill>
                  <a:srgbClr val="1A1A1A"/>
                </a:solidFill>
                <a:latin typeface="Segoe UI"/>
              </a:rPr>
              <a:t>still not classified</a:t>
            </a:r>
            <a:r>
              <a:rPr sz="1700" b="0">
                <a:solidFill>
                  <a:srgbClr val="1A1A1A"/>
                </a:solidFill>
                <a:latin typeface="Segoe UI"/>
              </a:rPr>
              <a:t> from a captured request. /token is the normal endpoint for code redemption and refresh — it is not evidence of On-Behalf-Of.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0067C0"/>
                </a:solidFill>
                <a:latin typeface="Segoe UI"/>
              </a:rPr>
              <a:t>▪  </a:t>
            </a:r>
            <a:r>
              <a:rPr sz="1700" b="0">
                <a:solidFill>
                  <a:srgbClr val="1A1A1A"/>
                </a:solidFill>
                <a:latin typeface="Segoe UI"/>
              </a:rPr>
              <a:t>The “Unbound (1008)” line is a </a:t>
            </a:r>
            <a:r>
              <a:rPr sz="1700" b="1">
                <a:solidFill>
                  <a:srgbClr val="1A1A1A"/>
                </a:solidFill>
                <a:latin typeface="Segoe UI"/>
              </a:rPr>
              <a:t>device- and session-binding status</a:t>
            </a:r>
            <a:r>
              <a:rPr sz="1700" b="0">
                <a:solidFill>
                  <a:srgbClr val="1A1A1A"/>
                </a:solidFill>
                <a:latin typeface="Segoe UI"/>
              </a:rPr>
              <a:t>, not proof of token replay and not a grant classifier.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0067C0"/>
                </a:solidFill>
                <a:latin typeface="Segoe UI"/>
              </a:rPr>
              <a:t>▪  </a:t>
            </a:r>
            <a:r>
              <a:rPr sz="1700" b="0">
                <a:solidFill>
                  <a:srgbClr val="1A1A1A"/>
                </a:solidFill>
                <a:latin typeface="Segoe UI"/>
              </a:rPr>
              <a:t>Next: resolve the fork with </a:t>
            </a:r>
            <a:r>
              <a:rPr sz="1700" b="1">
                <a:solidFill>
                  <a:srgbClr val="1A1A1A"/>
                </a:solidFill>
                <a:latin typeface="Segoe UI"/>
              </a:rPr>
              <a:t>Q7 and Q8</a:t>
            </a:r>
            <a:r>
              <a:rPr sz="1700" b="0">
                <a:solidFill>
                  <a:srgbClr val="1A1A1A"/>
                </a:solidFill>
                <a:latin typeface="Segoe UI"/>
              </a:rPr>
              <a:t>. Change nothing in Conditional Access until then.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7C0"/>
                </a:solidFill>
                <a:latin typeface="Segoe UI"/>
              </a:rPr>
              <a:t>DISCIPLINE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1B3D"/>
                </a:solidFill>
                <a:latin typeface="Segoe UI"/>
              </a:rPr>
              <a:t>What the evidence does — and does not — prove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881360" cy="31750"/>
          </a:xfrm>
          <a:prstGeom prst="rect">
            <a:avLst/>
          </a:prstGeom>
          <a:solidFill>
            <a:srgbClr val="006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920240"/>
          <a:ext cx="1083564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840480"/>
                <a:gridCol w="4251960"/>
              </a:tblGrid>
              <a:tr h="7772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Observation</a:t>
                      </a:r>
                    </a:p>
                  </a:txBody>
                  <a:tcPr anchor="ctr">
                    <a:solidFill>
                      <a:srgbClr val="001B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What it proves</a:t>
                      </a:r>
                    </a:p>
                  </a:txBody>
                  <a:tcPr anchor="ctr">
                    <a:solidFill>
                      <a:srgbClr val="001B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What it does NOT prove</a:t>
                      </a:r>
                    </a:p>
                  </a:txBody>
                  <a:tcPr anchor="ctr">
                    <a:solidFill>
                      <a:srgbClr val="001B3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Segoe UI"/>
                        </a:rPr>
                        <a:t>Calls to /oauth2/v2.0/token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Segoe UI"/>
                        </a:rPr>
                        <a:t>A token is being requested at the standard endpoint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Segoe UI"/>
                        </a:rPr>
                        <a:t>Not OBO. Code redemption and refresh use the same endpoint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Segoe UI"/>
                        </a:rPr>
                        <a:t>Sign-in status “Unbound (1008)”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Segoe UI"/>
                        </a:rPr>
                        <a:t>The client is not integrated with the platform broker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Segoe UI"/>
                        </a:rPr>
                        <a:t>Not token replay. Not a grant type. Out of scope for browser→Graph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Segoe UI"/>
                        </a:rPr>
                        <a:t>Conditional Access blocked the call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Segoe UI"/>
                        </a:rPr>
                        <a:t>The request lacked compliant-device context from an untrusted IP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Segoe UI"/>
                        </a:rPr>
                        <a:t>Nothing about which grant was used — CA is grant-agnostic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Segoe UI"/>
                        </a:rPr>
                        <a:t>Three exported registrations are ‘spa’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Segoe UI"/>
                        </a:rPr>
                        <a:t>No secret, no certificate, no exposed API scope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Segoe UI"/>
                        </a:rPr>
                        <a:t>Not the full inventory — other registrations may exist (Q8)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7C0"/>
                </a:solidFill>
                <a:latin typeface="Segoe UI"/>
              </a:rPr>
              <a:t>STEP 1 — DONE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1B3D"/>
                </a:solidFill>
                <a:latin typeface="Segoe UI"/>
              </a:rPr>
              <a:t>New evidence: the browser trace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881360" cy="31750"/>
          </a:xfrm>
          <a:prstGeom prst="rect">
            <a:avLst/>
          </a:prstGeom>
          <a:solidFill>
            <a:srgbClr val="006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65656"/>
                </a:solidFill>
                <a:latin typeface="Segoe UI"/>
              </a:rPr>
              <a:t>A Desjardins user captured a HAR of a real Central sign-in.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331720"/>
            <a:ext cx="52578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85800" y="2331720"/>
            <a:ext cx="5257800" cy="63500"/>
          </a:xfrm>
          <a:prstGeom prst="rect">
            <a:avLst/>
          </a:prstGeom>
          <a:solidFill>
            <a:srgbClr val="0A7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A7D28"/>
                </a:solidFill>
                <a:latin typeface="Segoe UI"/>
              </a:rPr>
              <a:t>Present in the trace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480060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A1A1A"/>
                </a:solidFill>
                <a:latin typeface="Segoe UI"/>
              </a:rPr>
              <a:t>/oauth2/v2.0/authorize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The front-channel leg runs in the user's browser, as expected.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331720"/>
            <a:ext cx="52578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263640" y="2331720"/>
            <a:ext cx="5257800" cy="63500"/>
          </a:xfrm>
          <a:prstGeom prst="rect">
            <a:avLst/>
          </a:prstGeom>
          <a:solidFill>
            <a:srgbClr val="B00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532888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B00020"/>
                </a:solidFill>
                <a:latin typeface="Segoe UI"/>
              </a:rPr>
              <a:t>Absent from the trace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108960"/>
            <a:ext cx="480060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A1A1A"/>
                </a:solidFill>
                <a:latin typeface="Segoe UI"/>
              </a:rPr>
              <a:t>/oauth2/v2.0/token — no occurrence at all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The code leaves the browser but is redeemed elsewhere.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663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1B3D"/>
                </a:solidFill>
                <a:latin typeface="Segoe UI"/>
              </a:rPr>
              <a:t>Conclusion: the redemption is server-side. This corroborates Olivier's account and rules out browser redemption for this capture.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2578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65656"/>
                </a:solidFill>
                <a:latin typeface="Segoe UI"/>
              </a:rPr>
              <a:t>Consequence: Desjardins can no longer observe the Origin header — it now exists only on Croesus's outbound request. Caveat: one sample, one environment.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7C0"/>
                </a:solidFill>
                <a:latin typeface="Segoe UI"/>
              </a:rPr>
              <a:t>HYPOTHESIS TO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1B3D"/>
                </a:solidFill>
                <a:latin typeface="Segoe UI"/>
              </a:rPr>
              <a:t>The fork this creates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881360" cy="31750"/>
          </a:xfrm>
          <a:prstGeom prst="rect">
            <a:avLst/>
          </a:prstGeom>
          <a:solidFill>
            <a:srgbClr val="006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65656"/>
                </a:solidFill>
                <a:latin typeface="Segoe UI"/>
              </a:rPr>
              <a:t>Microsoft Entra rejects a plain server-side redemption of a ‘spa’ authorization code with AADSTS9002327. A server-side redemption and a spa-only registration cannot both hold.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51760"/>
            <a:ext cx="525780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85800" y="2651760"/>
            <a:ext cx="5257800" cy="63500"/>
          </a:xfrm>
          <a:prstGeom prst="rect">
            <a:avLst/>
          </a:prstGeom>
          <a:solidFill>
            <a:srgbClr val="B00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52928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B00020"/>
                </a:solidFill>
                <a:latin typeface="Segoe UI"/>
              </a:rPr>
              <a:t>Branch A — the redemption FAILS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48006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A1A1A"/>
                </a:solidFill>
                <a:latin typeface="Segoe UI"/>
              </a:rPr>
              <a:t>Entra returns AADSTS9002327.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A spa public client cannot service a no-Origin redemption. The supported registration shape is missing.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1A1A"/>
                </a:solidFill>
                <a:latin typeface="Segoe UI"/>
              </a:rPr>
              <a:t>Fix: Croesus registers a ‘web’ confidential client with a certificate credential.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651760"/>
            <a:ext cx="525780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263640" y="2651760"/>
            <a:ext cx="5257800" cy="63500"/>
          </a:xfrm>
          <a:prstGeom prst="rect">
            <a:avLst/>
          </a:prstGeom>
          <a:solidFill>
            <a:srgbClr val="8A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852928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8A6D00"/>
                </a:solidFill>
                <a:latin typeface="Segoe UI"/>
              </a:rPr>
              <a:t>Branch B — the redemption SUCCEEDS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429000"/>
            <a:ext cx="48006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A1A1A"/>
                </a:solidFill>
                <a:latin typeface="Segoe UI"/>
              </a:rPr>
              <a:t>No AADSTS9002327 in the logs.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Then the backend authenticates as a registration outside the three spa exports we were given.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1A1A"/>
                </a:solidFill>
                <a:latin typeface="Segoe UI"/>
              </a:rPr>
              <a:t>Fix: Croesus discloses the complete inventory (Q8); any accommodation is scoped to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6692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65656"/>
                </a:solidFill>
                <a:latin typeface="Segoe UI"/>
              </a:rPr>
              <a:t>Caveat: if Conditional Access blocks the leg first, the logs show a CA failure code instead — that does not settle the question.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7C0"/>
                </a:solidFill>
                <a:latin typeface="Segoe UI"/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1B3D"/>
                </a:solidFill>
                <a:latin typeface="Segoe UI"/>
              </a:rPr>
              <a:t>Why the registration shape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881360" cy="31750"/>
          </a:xfrm>
          <a:prstGeom prst="rect">
            <a:avLst/>
          </a:prstGeom>
          <a:solidFill>
            <a:srgbClr val="006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920240"/>
          <a:ext cx="1083564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206240"/>
                <a:gridCol w="4160520"/>
              </a:tblGrid>
              <a:tr h="6172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 </a:t>
                      </a:r>
                    </a:p>
                  </a:txBody>
                  <a:tcPr anchor="ctr">
                    <a:solidFill>
                      <a:srgbClr val="001B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spa (public client)</a:t>
                      </a:r>
                    </a:p>
                  </a:txBody>
                  <a:tcPr anchor="ctr">
                    <a:solidFill>
                      <a:srgbClr val="001B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web (confidential client)</a:t>
                      </a:r>
                    </a:p>
                  </a:txBody>
                  <a:tcPr anchor="ctr">
                    <a:solidFill>
                      <a:srgbClr val="001B3D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Segoe UI"/>
                        </a:rPr>
                        <a:t>Credential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Segoe UI"/>
                        </a:rPr>
                        <a:t>None — no secret, no certificate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Segoe UI"/>
                        </a:rPr>
                        <a:t>Secret or certificate required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Segoe UI"/>
                        </a:rPr>
                        <a:t>Redeems a code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Segoe UI"/>
                        </a:rPr>
                        <a:t>Only from a cross-origin browser request (Origin header)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Segoe UI"/>
                        </a:rPr>
                        <a:t>From a server, no Origin required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Segoe UI"/>
                        </a:rPr>
                        <a:t>Server-side redemption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Segoe UI"/>
                        </a:rPr>
                        <a:t>Rejected: AADSTS9002327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Segoe UI"/>
                        </a:rPr>
                        <a:t>Supported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Segoe UI"/>
                        </a:rPr>
                        <a:t>Exposed API scope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Segoe UI"/>
                        </a:rPr>
                        <a:t>None in the three exports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Segoe UI"/>
                        </a:rPr>
                        <a:t>Required for On-Behalf-Of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Segoe UI"/>
                        </a:rPr>
                        <a:t>What we hold today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Segoe UI"/>
                        </a:rPr>
                        <a:t>All three: dev-dev, dev-prod, prod-prod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Segoe UI"/>
                        </a:rPr>
                        <a:t>None disclosed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6235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1B3D"/>
                </a:solidFill>
                <a:latin typeface="Segoe UI"/>
              </a:rPr>
              <a:t>“Tokens issued for the 'Single-Page Application' client-type may only be redeemed via cross-origin requests.”  — AADSTS9002327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7C0"/>
                </a:solidFill>
                <a:latin typeface="Segoe UI"/>
              </a:rPr>
              <a:t>SCREENSHOT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1B3D"/>
                </a:solidFill>
                <a:latin typeface="Segoe UI"/>
              </a:rPr>
              <a:t>The same fork, live in the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881360" cy="31750"/>
          </a:xfrm>
          <a:prstGeom prst="rect">
            <a:avLst/>
          </a:prstGeom>
          <a:solidFill>
            <a:srgbClr val="006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ork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0059" y="1783080"/>
            <a:ext cx="4351577" cy="4663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41908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latin typeface="Segoe UI"/>
                <a:hlinkClick r:id="rId3"/>
              </a:rPr>
              <a:t>▶  Open it live — croesus-spa.azurewebsites.net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7C0"/>
                </a:solidFill>
                <a:latin typeface="Segoe UI"/>
              </a:rPr>
              <a:t>OWNERSHIP OF THE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1B3D"/>
                </a:solidFill>
                <a:latin typeface="Segoe UI"/>
              </a:rPr>
              <a:t>Who can answer what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881360" cy="31750"/>
          </a:xfrm>
          <a:prstGeom prst="rect">
            <a:avLst/>
          </a:prstGeom>
          <a:solidFill>
            <a:srgbClr val="006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920240"/>
          <a:ext cx="1083564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3291840"/>
                <a:gridCol w="2971800"/>
              </a:tblGrid>
              <a:tr h="6172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Question</a:t>
                      </a:r>
                    </a:p>
                  </a:txBody>
                  <a:tcPr anchor="ctr">
                    <a:solidFill>
                      <a:srgbClr val="001B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Who can answer</a:t>
                      </a:r>
                    </a:p>
                  </a:txBody>
                  <a:tcPr anchor="ctr">
                    <a:solidFill>
                      <a:srgbClr val="001B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anchor="ctr">
                    <a:solidFill>
                      <a:srgbClr val="001B3D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Segoe UI"/>
                        </a:rPr>
                        <a:t>Origin header on a browser-side /token call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Segoe UI"/>
                        </a:rPr>
                        <a:t>Desjardins — browser DevTools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Segoe UI"/>
                        </a:rPr>
                        <a:t>Ruled out — no /token in the HAR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Segoe UI"/>
                        </a:rPr>
                        <a:t>Origin header on the server-side /token call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Segoe UI"/>
                        </a:rPr>
                        <a:t>Croesus only — their outbound request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Segoe UI"/>
                        </a:rPr>
                        <a:t>Open — Q7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Segoe UI"/>
                        </a:rPr>
                        <a:t>Did the second leg succeed or fail with AADSTS9002327?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Segoe UI"/>
                        </a:rPr>
                        <a:t>Desjardins — own Entra sign-in logs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Segoe UI"/>
                        </a:rPr>
                        <a:t>In progress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Segoe UI"/>
                        </a:rPr>
                        <a:t>Complete registration / service-principal inventory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Segoe UI"/>
                        </a:rPr>
                        <a:t>Croesus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Segoe UI"/>
                        </a:rPr>
                        <a:t>Open — Q8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Segoe UI"/>
                        </a:rPr>
                        <a:t>AWS egress IP ranges, intended flow definition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Segoe UI"/>
                        </a:rPr>
                        <a:t>Croesus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Segoe UI"/>
                        </a:rPr>
                        <a:t>Open — Q4, Q1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715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latin typeface="Segoe UI"/>
                <a:hlinkClick r:id="rId2"/>
              </a:rPr>
              <a:t>Details: README — Who can capture the /token Origin header 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7C0"/>
                </a:solidFill>
                <a:latin typeface="Segoe UI"/>
              </a:rPr>
              <a:t>WHAT WE NEED FROM CROESUS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1B3D"/>
                </a:solidFill>
                <a:latin typeface="Segoe UI"/>
              </a:rPr>
              <a:t>The asks: Q7 and Q8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881360" cy="31750"/>
          </a:xfrm>
          <a:prstGeom prst="rect">
            <a:avLst/>
          </a:prstGeom>
          <a:solidFill>
            <a:srgbClr val="006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52578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85800" y="1874519"/>
            <a:ext cx="5257800" cy="63500"/>
          </a:xfrm>
          <a:prstGeom prst="rect">
            <a:avLst/>
          </a:prstGeom>
          <a:solidFill>
            <a:srgbClr val="006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75688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67C0"/>
                </a:solidFill>
                <a:latin typeface="Segoe UI"/>
              </a:rPr>
              <a:t>Q7 — one redacted /token capture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4800600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A1A1A"/>
                </a:solidFill>
                <a:latin typeface="Segoe UI"/>
              </a:rPr>
              <a:t>For one successful and one failing transaction: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Is an Origin header present?  •  grant_type  •  client_id  •  redirect URI  •  client-authentication method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1A1A"/>
                </a:solidFill>
                <a:latin typeface="Segoe UI"/>
              </a:rPr>
              <a:t>Presence indicators or SHA-256 hashes only. Never raw codes, tokens, secrets, or assertions.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74519"/>
            <a:ext cx="52578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1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263640" y="1874519"/>
            <a:ext cx="5257800" cy="63500"/>
          </a:xfrm>
          <a:prstGeom prst="rect">
            <a:avLst/>
          </a:prstGeom>
          <a:solidFill>
            <a:srgbClr val="006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75688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67C0"/>
                </a:solidFill>
                <a:latin typeface="Segoe UI"/>
              </a:rPr>
              <a:t>Q8 — complete registration inventory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651760"/>
            <a:ext cx="4800600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A1A1A"/>
                </a:solidFill>
                <a:latin typeface="Segoe UI"/>
              </a:rPr>
              <a:t>Every app registration and service principal GPD Central uses, across environments.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Including any confidential web/API registration that is not among the three spa exports we hold.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1A1A"/>
                </a:solidFill>
                <a:latin typeface="Segoe UI"/>
              </a:rPr>
              <a:t>Promoted to equal priority by the server-side finding.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1663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65656"/>
                </a:solidFill>
                <a:latin typeface="Segoe UI"/>
              </a:rPr>
              <a:t>Also open: Q1 intended flow  •  Q4 AWS egress ranges  •  Q5 cross-tenant device compliance  •  Q6 token-binding compatibility  •  Q9 Central vs Conseiller parity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7150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latin typeface="Segoe UI"/>
                <a:hlinkClick r:id="rId2"/>
              </a:rPr>
              <a:t>▶  Full question list Q1–Q9 on GitHub →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7C0"/>
                </a:solidFill>
                <a:latin typeface="Segoe UI"/>
              </a:rPr>
              <a:t>ONCE THE FORK IS RESOLVED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1B3D"/>
                </a:solidFill>
                <a:latin typeface="Segoe UI"/>
              </a:rPr>
              <a:t>Remediation ladder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881360" cy="31750"/>
          </a:xfrm>
          <a:prstGeom prst="rect">
            <a:avLst/>
          </a:prstGeom>
          <a:solidFill>
            <a:srgbClr val="006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0067C0"/>
                </a:solidFill>
                <a:latin typeface="Segoe UI"/>
              </a:rPr>
              <a:t>▪  </a:t>
            </a:r>
            <a:r>
              <a:rPr sz="1700" b="1">
                <a:solidFill>
                  <a:srgbClr val="1A1A1A"/>
                </a:solidFill>
                <a:latin typeface="Segoe UI"/>
              </a:rPr>
              <a:t>Classify first.</a:t>
            </a:r>
            <a:r>
              <a:rPr sz="1700" b="0">
                <a:solidFill>
                  <a:srgbClr val="1A1A1A"/>
                </a:solidFill>
                <a:latin typeface="Segoe UI"/>
              </a:rPr>
              <a:t> No Conditional Access change, no AWS IP allowlist, and no OBO mandate until the grant is known.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0067C0"/>
                </a:solidFill>
                <a:latin typeface="Segoe UI"/>
              </a:rPr>
              <a:t>▪  </a:t>
            </a:r>
            <a:r>
              <a:rPr sz="1700" b="1">
                <a:solidFill>
                  <a:srgbClr val="1A1A1A"/>
                </a:solidFill>
                <a:latin typeface="Segoe UI"/>
              </a:rPr>
              <a:t>Branch A → register a web confidential client.</a:t>
            </a:r>
            <a:r>
              <a:rPr sz="1700" b="0">
                <a:solidFill>
                  <a:srgbClr val="1A1A1A"/>
                </a:solidFill>
                <a:latin typeface="Segoe UI"/>
              </a:rPr>
              <a:t> A certificate credential on the Croesus side. Smallest possible change; no Desjardins policy change needed.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0067C0"/>
                </a:solidFill>
                <a:latin typeface="Segoe UI"/>
              </a:rPr>
              <a:t>▪  </a:t>
            </a:r>
            <a:r>
              <a:rPr sz="1700" b="1">
                <a:solidFill>
                  <a:srgbClr val="1A1A1A"/>
                </a:solidFill>
                <a:latin typeface="Segoe UI"/>
              </a:rPr>
              <a:t>Branch B → scope to the disclosed registration.</a:t>
            </a:r>
            <a:r>
              <a:rPr sz="1700" b="0">
                <a:solidFill>
                  <a:srgbClr val="1A1A1A"/>
                </a:solidFill>
                <a:latin typeface="Segoe UI"/>
              </a:rPr>
              <a:t> Apply any accommodation to that specific service principal rather than to a broad IP range.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0067C0"/>
                </a:solidFill>
                <a:latin typeface="Segoe UI"/>
              </a:rPr>
              <a:t>▪  </a:t>
            </a:r>
            <a:r>
              <a:rPr sz="1700" b="1">
                <a:solidFill>
                  <a:srgbClr val="1A1A1A"/>
                </a:solidFill>
                <a:latin typeface="Segoe UI"/>
              </a:rPr>
              <a:t>Rule out device trust as the lever.</a:t>
            </a:r>
            <a:r>
              <a:rPr sz="1700" b="0">
                <a:solidFill>
                  <a:srgbClr val="1A1A1A"/>
                </a:solidFill>
                <a:latin typeface="Segoe UI"/>
              </a:rPr>
              <a:t> Cross-tenant ‘Trust compliant devices’ only fires on a B2B guest sign-in, and the blocked leg is a server-side call with no device context at all.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0067C0"/>
                </a:solidFill>
                <a:latin typeface="Segoe UI"/>
              </a:rPr>
              <a:t>▪  </a:t>
            </a:r>
            <a:r>
              <a:rPr sz="1700" b="1">
                <a:solidFill>
                  <a:srgbClr val="1A1A1A"/>
                </a:solidFill>
                <a:latin typeface="Segoe UI"/>
              </a:rPr>
              <a:t>On-Behalf-Of is an option, not a requirement.</a:t>
            </a:r>
            <a:r>
              <a:rPr sz="1700" b="0">
                <a:solidFill>
                  <a:srgbClr val="1A1A1A"/>
                </a:solidFill>
                <a:latin typeface="Segoe UI"/>
              </a:rPr>
              <a:t> It applies only if a genuine confidential middle tier is proven — which requires an exposed API scope and a credential.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7C0"/>
                </a:solidFill>
                <a:latin typeface="Segoe UI"/>
              </a:rPr>
              <a:t>REFERENCE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1B3D"/>
                </a:solidFill>
                <a:latin typeface="Segoe UI"/>
              </a:rPr>
              <a:t>The working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881360" cy="31750"/>
          </a:xfrm>
          <a:prstGeom prst="rect">
            <a:avLst/>
          </a:prstGeom>
          <a:solidFill>
            <a:srgbClr val="006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0067C0"/>
                </a:solidFill>
                <a:latin typeface="Segoe UI"/>
              </a:rPr>
              <a:t>▪  </a:t>
            </a:r>
            <a:r>
              <a:rPr sz="1600" b="0">
                <a:solidFill>
                  <a:srgbClr val="1A1A1A"/>
                </a:solidFill>
                <a:latin typeface="Segoe UI"/>
              </a:rPr>
              <a:t>A live SPA + API in a Microsoft demo tenant that makes the flow shapes observable — nothing runs against Desjardins or Croesus tenants.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0067C0"/>
                </a:solidFill>
                <a:latin typeface="Segoe UI"/>
              </a:rPr>
              <a:t>▪  </a:t>
            </a:r>
            <a:r>
              <a:rPr sz="1600" b="1">
                <a:solidFill>
                  <a:srgbClr val="1A1A1A"/>
                </a:solidFill>
                <a:latin typeface="Segoe UI"/>
              </a:rPr>
              <a:t>Wrong vs right:</a:t>
            </a:r>
            <a:r>
              <a:rPr sz="1600" b="0">
                <a:solidFill>
                  <a:srgbClr val="1A1A1A"/>
                </a:solidFill>
                <a:latin typeface="Segoe UI"/>
              </a:rPr>
              <a:t> a token replay to Microsoft Graph is rejected on audience, while a real On-Behalf-Of exchange issues a distinct, separately audienced token.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0067C0"/>
                </a:solidFill>
                <a:latin typeface="Segoe UI"/>
              </a:rPr>
              <a:t>▪  </a:t>
            </a:r>
            <a:r>
              <a:rPr sz="1600" b="1">
                <a:solidFill>
                  <a:srgbClr val="1A1A1A"/>
                </a:solidFill>
                <a:latin typeface="Segoe UI"/>
              </a:rPr>
              <a:t>The registration fork:</a:t>
            </a:r>
            <a:r>
              <a:rPr sz="1600" b="0">
                <a:solidFill>
                  <a:srgbClr val="1A1A1A"/>
                </a:solidFill>
                <a:latin typeface="Segoe UI"/>
              </a:rPr>
              <a:t> a panel walks through spa vs web and the AADSTS9002327 behaviour, with direct links to Q7 and Q8.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0067C0"/>
                </a:solidFill>
                <a:latin typeface="Segoe UI"/>
              </a:rPr>
              <a:t>▪  </a:t>
            </a:r>
            <a:r>
              <a:rPr sz="1600" b="1">
                <a:solidFill>
                  <a:srgbClr val="1A1A1A"/>
                </a:solidFill>
                <a:latin typeface="Segoe UI"/>
              </a:rPr>
              <a:t>Token inspector and evidence panel:</a:t>
            </a:r>
            <a:r>
              <a:rPr sz="1600" b="0">
                <a:solidFill>
                  <a:srgbClr val="1A1A1A"/>
                </a:solidFill>
                <a:latin typeface="Segoe UI"/>
              </a:rPr>
              <a:t> decoded claims show audience binding rather than a reused bearer. The raw-token inspector is gated off by default — we ask the vendor for hashes, so we do not demo copying live tokens.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0067C0"/>
                </a:solidFill>
                <a:latin typeface="Segoe UI"/>
              </a:rPr>
              <a:t>▪  </a:t>
            </a:r>
            <a:r>
              <a:rPr sz="1600" b="1">
                <a:solidFill>
                  <a:srgbClr val="1A1A1A"/>
                </a:solidFill>
                <a:latin typeface="Segoe UI"/>
              </a:rPr>
              <a:t>Tier 2 exhibits (gated):</a:t>
            </a:r>
            <a:r>
              <a:rPr sz="1600" b="0">
                <a:solidFill>
                  <a:srgbClr val="1A1A1A"/>
                </a:solidFill>
                <a:latin typeface="Segoe UI"/>
              </a:rPr>
              <a:t> a server-side replay control, and a report-only Token Protection policy that reproduces the real 1008 signal on a supported resource.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4406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latin typeface="Segoe UI"/>
                <a:hlinkClick r:id="rId2"/>
              </a:rPr>
              <a:t>▶  Open the demo — croesus-spa.azurewebsites.net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8521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latin typeface="Segoe UI"/>
                <a:hlinkClick r:id="rId3"/>
              </a:rPr>
              <a:t>▶  Demo walkthrough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5440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latin typeface="Segoe UI"/>
                <a:hlinkClick r:id="rId4"/>
              </a:rPr>
              <a:t>▶  Evidence narrative (Q‑by‑Q mapping)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5852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latin typeface="Segoe UI"/>
                <a:hlinkClick r:id="rId5"/>
              </a:rPr>
              <a:t>▶  Evidence KQL queries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7C0"/>
                </a:solidFill>
                <a:latin typeface="Segoe UI"/>
              </a:rPr>
              <a:t>LEAVING THIS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1B3D"/>
                </a:solidFill>
                <a:latin typeface="Segoe UI"/>
              </a:rPr>
              <a:t>Next steps and owners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881360" cy="31750"/>
          </a:xfrm>
          <a:prstGeom prst="rect">
            <a:avLst/>
          </a:prstGeom>
          <a:solidFill>
            <a:srgbClr val="006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920240"/>
          <a:ext cx="1083564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4937760"/>
                <a:gridCol w="1737360"/>
                <a:gridCol w="3611880"/>
              </a:tblGrid>
              <a:tr h="6172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anchor="ctr">
                    <a:solidFill>
                      <a:srgbClr val="001B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Action</a:t>
                      </a:r>
                    </a:p>
                  </a:txBody>
                  <a:tcPr anchor="ctr">
                    <a:solidFill>
                      <a:srgbClr val="001B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Owner</a:t>
                      </a:r>
                    </a:p>
                  </a:txBody>
                  <a:tcPr anchor="ctr">
                    <a:solidFill>
                      <a:srgbClr val="001B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Closes</a:t>
                      </a:r>
                    </a:p>
                  </a:txBody>
                  <a:tcPr anchor="ctr">
                    <a:solidFill>
                      <a:srgbClr val="001B3D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Segoe UI"/>
                        </a:rPr>
                        <a:t>Query Entra sign-in logs for the server-side leg: success vs AADSTS9002327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Segoe UI"/>
                        </a:rPr>
                        <a:t>Desjardins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Segoe UI"/>
                        </a:rPr>
                        <a:t>Narrows the fork without the vendor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Segoe UI"/>
                        </a:rPr>
                        <a:t>Provide one redacted /token capture (hashes / presence only)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Segoe UI"/>
                        </a:rPr>
                        <a:t>Croesus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Segoe UI"/>
                        </a:rPr>
                        <a:t>Q7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Segoe UI"/>
                        </a:rPr>
                        <a:t>Provide the complete registration and service-principal inventory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Segoe UI"/>
                        </a:rPr>
                        <a:t>Croesus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Segoe UI"/>
                        </a:rPr>
                        <a:t>Q8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Segoe UI"/>
                        </a:rPr>
                        <a:t>Provide AWS egress IP ranges and the intended flow definition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Segoe UI"/>
                        </a:rPr>
                        <a:t>Croesus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Segoe UI"/>
                        </a:rPr>
                        <a:t>Q4, Q1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Segoe UI"/>
                        </a:rPr>
                        <a:t>Choose the minimum remediation once the branch is known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Segoe UI"/>
                        </a:rPr>
                        <a:t>Joint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Segoe UI"/>
                        </a:rPr>
                        <a:t>The escalation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6692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B00020"/>
                </a:solidFill>
                <a:latin typeface="Segoe UI"/>
              </a:rPr>
              <a:t>Guardrail until then: do not change Conditional Access, do not allowlist the AWS egress IPs, and do not mandate On-Behalf-Of.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7C0"/>
                </a:solidFill>
                <a:latin typeface="Segoe UI"/>
              </a:rPr>
              <a:t>EVERYTHING REFERENCED IN THIS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1B3D"/>
                </a:solidFill>
                <a:latin typeface="Segoe UI"/>
              </a:rPr>
              <a:t>Links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881360" cy="31750"/>
          </a:xfrm>
          <a:prstGeom prst="rect">
            <a:avLst/>
          </a:prstGeom>
          <a:solidFill>
            <a:srgbClr val="006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latin typeface="Segoe UI"/>
                <a:hlinkClick r:id="rId2"/>
              </a:rPr>
              <a:t>▶  Question list Q1–Q9 (escalation packet)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latin typeface="Segoe UI"/>
                <a:hlinkClick r:id="rId3"/>
              </a:rPr>
              <a:t>▶  Escalation packet — full document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8892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latin typeface="Segoe UI"/>
                <a:hlinkClick r:id="rId4"/>
              </a:rPr>
              <a:t>▶  Full analysis — README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4612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latin typeface="Segoe UI"/>
                <a:hlinkClick r:id="rId5"/>
              </a:rPr>
              <a:t>▶  Who can capture the /token Origin header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0332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latin typeface="Segoe UI"/>
                <a:hlinkClick r:id="rId6"/>
              </a:rPr>
              <a:t>▶  Evidence narrative — question-by-question mapping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latin typeface="Segoe UI"/>
                <a:hlinkClick r:id="rId7"/>
              </a:rPr>
              <a:t>▶  On-Behalf-Of demo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1772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latin typeface="Segoe UI"/>
                <a:hlinkClick r:id="rId8"/>
              </a:rPr>
              <a:t>▶  Evidence KQL queries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07492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latin typeface="Segoe UI"/>
                <a:hlinkClick r:id="rId9"/>
              </a:rPr>
              <a:t>▶  Repository — devopsabcs-engineering/croesus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53212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latin typeface="Segoe UI"/>
                <a:hlinkClick r:id="rId10"/>
              </a:rPr>
              <a:t>▶  Live demo application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