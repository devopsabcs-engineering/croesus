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Cadrage : il s'agit d'une séance conjointe d'établissement des faits, non d'un rapport de défaut. Le blocage d'accès conditionnel est correct par conception. La portée se limite à GPD Central — Conseiller est un produit distinct et une évaluation distincte. Le dire d'emblée.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Garder un ton collaboratif. Dire clairement que le blocage n'est ni une mauvaise configuration de Desjardins, ni une accusation envers Croesus.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diapositive est le résumé exécutif. Si la séance s'arrête après cinq minutes, ce sont ces cinq lignes qui doivent passer. Portée : Central seulement.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diapositive de crédibilité. Montrer ce que nous refusons de sur-interpréter donne le droit de formuler la demande de la diapositive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Créditer Mathieu pour cette capture. Souligner qu'elle confirme ce que Croesus a affirmé — nous validons le fournisseur, nous ne le contredisons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centrale. Aucune des deux explications n'est une crise et chacune appelle une remédiation modeste. Q8 les sépare en une seule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Formuler le point techniquement, sans accusation : c'est une règle de la plateforme, pas une opinion. Et la première étape du correctif est peu coûteuse.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panneau s'affiche sans connexion : il peut donc être présenté en partage d'écran. Q8, Q7, Q15 et la liste complète des questions sont cliquables directement depuis la page. L'interface de la démo est en anglais.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L'en-tête Origin brut n'est jamais un champ des journaux de connexion du locataire. Il n'existe que sur la requête HTTP envoyée à Entra par l'appelant.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d'emblée sur la règle de caviardage — c'est ce qui rend Q7 répondable par un fournisseur soucieux de sécurité. Q8 passe en tête car elle peut lever l'ambiguïté en une seule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message : chaque voie est modeste et réversible. Personne n'a besoin d'une refonte, et Desjardins n'a pas à affaiblir son accès conditionnel. Sur la confiance d'appareil — créditer Mathieu Santerre pour la correction : les paramètres de confiance entrante honorent une revendication d'appareil portée par le jeton d'un invité provenant de son locataire d'origine ; ils ne peuvent donc pas transposer l'état d'appareil de Prod dans une connexion native en préproduction.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Ordre de la démo : se connecter, appeler l'API, montrer le panneau de preuve, puis le bouton de rejeu, puis faire défiler jusqu'au panneau de bifurcation d'inscription et cliquer vers Q8/Q7/Q15.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en redisant le garde-fou. Il protège les deux parties : aucun relâchement prématuré de politique, aucune refonte prématurée du côté du fournisseur. L'élément 1 nous appartient et ne dépend de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Partager la présentation elle-même — tous les liens sont cliquables en mode diaporama.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vopsabcs-engineering/croesus/blob/main/assets/croesus-3way-session-findings.md" TargetMode="External"/><Relationship Id="rId3" Type="http://schemas.openxmlformats.org/officeDocument/2006/relationships/hyperlink" Target="https://github.com/devopsabcs-engineering/croesus/blob/main/assets/croesus-escalation-packet.md#2-questions-for-croesus" TargetMode="External"/><Relationship Id="rId4" Type="http://schemas.openxmlformats.org/officeDocument/2006/relationships/hyperlink" Target="https://croesus-spa.azurewebsites.net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roesus-spa.azurewebsites.net" TargetMode="Externa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vopsabcs-engineering/croesus/blob/main/README.md#who-can-capture-the-token-origin-header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vopsabcs-engineering/croesus/blob/main/assets/croesus-escalation-packet.md#2-questions-for-croesus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oesus-spa.azurewebsites.net" TargetMode="External"/><Relationship Id="rId3" Type="http://schemas.openxmlformats.org/officeDocument/2006/relationships/hyperlink" Target="https://github.com/devopsabcs-engineering/croesus/blob/main/docs/obo-demo-guide.md" TargetMode="External"/><Relationship Id="rId4" Type="http://schemas.openxmlformats.org/officeDocument/2006/relationships/hyperlink" Target="https://github.com/devopsabcs-engineering/croesus/blob/main/docs/evidence-narrative.md" TargetMode="External"/><Relationship Id="rId5" Type="http://schemas.openxmlformats.org/officeDocument/2006/relationships/hyperlink" Target="https://github.com/devopsabcs-engineering/croesus/blob/main/scripts/evidence-kql.kusto" TargetMode="Externa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vopsabcs-engineering/croesus/blob/main/assets/croesus-3way-session-findings.md" TargetMode="External"/><Relationship Id="rId3" Type="http://schemas.openxmlformats.org/officeDocument/2006/relationships/hyperlink" Target="https://github.com/devopsabcs-engineering/croesus/blob/main/assets/croesus-3way-session-findings.md#4-routes-and-workarounds" TargetMode="External"/><Relationship Id="rId4" Type="http://schemas.openxmlformats.org/officeDocument/2006/relationships/hyperlink" Target="https://github.com/devopsabcs-engineering/croesus/blob/main/assets/croesus-escalation-packet.md#2-questions-for-croesus" TargetMode="External"/><Relationship Id="rId5" Type="http://schemas.openxmlformats.org/officeDocument/2006/relationships/hyperlink" Target="https://github.com/devopsabcs-engineering/croesus/blob/main/assets/croesus-escalation-packet.md" TargetMode="External"/><Relationship Id="rId6" Type="http://schemas.openxmlformats.org/officeDocument/2006/relationships/hyperlink" Target="https://github.com/devopsabcs-engineering/croesus/blob/main/README.md" TargetMode="External"/><Relationship Id="rId7" Type="http://schemas.openxmlformats.org/officeDocument/2006/relationships/hyperlink" Target="https://github.com/devopsabcs-engineering/croesus/blob/main/README.md#who-can-capture-the-token-origin-header" TargetMode="External"/><Relationship Id="rId8" Type="http://schemas.openxmlformats.org/officeDocument/2006/relationships/hyperlink" Target="https://github.com/devopsabcs-engineering/croesus/blob/main/docs/evidence-narrative.md" TargetMode="External"/><Relationship Id="rId9" Type="http://schemas.openxmlformats.org/officeDocument/2006/relationships/hyperlink" Target="https://github.com/devopsabcs-engineering/croesus/blob/main/docs/obo-demo-guide.md" TargetMode="External"/><Relationship Id="rId10" Type="http://schemas.openxmlformats.org/officeDocument/2006/relationships/hyperlink" Target="https://github.com/devopsabcs-engineering/croesus/blob/main/scripts/evidence-kql.kusto" TargetMode="External"/><Relationship Id="rId11" Type="http://schemas.openxmlformats.org/officeDocument/2006/relationships/hyperlink" Target="https://croesus-spa.azurewebsites.net" TargetMode="External"/><Relationship Id="rId1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00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96" b="1" i="0">
                <a:solidFill>
                  <a:srgbClr val="7FC4FF"/>
                </a:solidFill>
                <a:latin typeface="Segoe UI"/>
              </a:rPr>
              <a:t>DESJARDINS — CROESUS — MICROSOFT  |  SÉANCE DE TRAVAIL CONJOINTE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28" b="1" i="0">
                <a:solidFill>
                  <a:srgbClr val="FFFFFF"/>
                </a:solidFill>
                <a:latin typeface="Segoe UI"/>
              </a:rPr>
              <a:t>SSO GPD Central : ce que la preuve démontre,
et les voies qui règlent le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6" b="0" i="0">
                <a:solidFill>
                  <a:srgbClr val="565656"/>
                </a:solidFill>
                <a:latin typeface="Segoe UI"/>
              </a:rPr>
              <a:t>Inscriptions d'applications Entra ID, accès conditionnel et l'échange du code sur /token côté serveur  |  Central seulement — pas Conseiller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80" b="0" i="0">
                <a:solidFill>
                  <a:srgbClr val="565656"/>
                </a:solidFill>
                <a:latin typeface="Segoe UI"/>
              </a:rPr>
              <a:t>5 août 2026  —  mis à jour après la séance tripartite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2"/>
              </a:rPr>
              <a:t>▶  Constats de la séance et les neuf voies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3"/>
              </a:rPr>
              <a:t>▶  Liste des questions (Q1–Q15) sur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4"/>
              </a:rPr>
              <a:t>▶  Démo en direct — croesus-spa.azurewebsites.net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POURQUOI NOUS SOMMES 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La question posée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72"/>
              </a:spcAft>
            </a:pPr>
            <a:r>
              <a:rPr sz="1748">
                <a:solidFill>
                  <a:srgbClr val="0067C0"/>
                </a:solidFill>
                <a:latin typeface="Segoe UI"/>
              </a:rPr>
              <a:t>▪  </a:t>
            </a:r>
            <a:r>
              <a:rPr sz="1748" b="0">
                <a:solidFill>
                  <a:srgbClr val="1A1A1A"/>
                </a:solidFill>
                <a:latin typeface="Segoe UI"/>
              </a:rPr>
              <a:t>Les utilisateurs de Desjardins se connectent à GPD Central. Une </a:t>
            </a:r>
            <a:r>
              <a:rPr sz="1748" b="1">
                <a:solidFill>
                  <a:srgbClr val="1A1A1A"/>
                </a:solidFill>
                <a:latin typeface="Segoe UI"/>
              </a:rPr>
              <a:t>deuxième connexion, non interactive</a:t>
            </a:r>
            <a:r>
              <a:rPr sz="1748" b="0">
                <a:solidFill>
                  <a:srgbClr val="1A1A1A"/>
                </a:solidFill>
                <a:latin typeface="Segoe UI"/>
              </a:rPr>
              <a:t>, provient ensuite du serveur dorsal Croesus hébergé sur AWS et se voit </a:t>
            </a:r>
            <a:r>
              <a:rPr sz="1748" b="1">
                <a:solidFill>
                  <a:srgbClr val="1A1A1A"/>
                </a:solidFill>
                <a:latin typeface="Segoe UI"/>
              </a:rPr>
              <a:t>bloquée par l'accès conditionnel</a:t>
            </a:r>
            <a:r>
              <a:rPr sz="1748" b="0">
                <a:solidFill>
                  <a:srgbClr val="1A1A1A"/>
                </a:solidFill>
                <a:latin typeface="Segoe UI"/>
              </a:rPr>
              <a:t> en préproduction.</a:t>
            </a:r>
          </a:p>
          <a:p>
            <a:pPr>
              <a:spcAft>
                <a:spcPts val="1472"/>
              </a:spcAft>
            </a:pPr>
            <a:r>
              <a:rPr sz="1748">
                <a:solidFill>
                  <a:srgbClr val="0067C0"/>
                </a:solidFill>
                <a:latin typeface="Segoe UI"/>
              </a:rPr>
              <a:t>▪  </a:t>
            </a:r>
            <a:r>
              <a:rPr sz="1748" b="1">
                <a:solidFill>
                  <a:srgbClr val="1A1A1A"/>
                </a:solidFill>
                <a:latin typeface="Segoe UI"/>
              </a:rPr>
              <a:t>Une seule question : est-ce un comportement OAuth attendu, ou une mauvaise configuration ?</a:t>
            </a:r>
          </a:p>
          <a:p>
            <a:pPr>
              <a:spcAft>
                <a:spcPts val="1472"/>
              </a:spcAft>
            </a:pPr>
            <a:r>
              <a:rPr sz="1748">
                <a:solidFill>
                  <a:srgbClr val="0067C0"/>
                </a:solidFill>
                <a:latin typeface="Segoe UI"/>
              </a:rPr>
              <a:t>▪  </a:t>
            </a:r>
            <a:r>
              <a:rPr sz="1748" b="0">
                <a:solidFill>
                  <a:srgbClr val="1A1A1A"/>
                </a:solidFill>
                <a:latin typeface="Segoe UI"/>
              </a:rPr>
              <a:t>La réponse détermine le correctif — un </a:t>
            </a:r>
            <a:r>
              <a:rPr sz="1748" b="1">
                <a:solidFill>
                  <a:srgbClr val="1A1A1A"/>
                </a:solidFill>
                <a:latin typeface="Segoe UI"/>
              </a:rPr>
              <a:t>changement interne chez Desjardins</a:t>
            </a:r>
            <a:r>
              <a:rPr sz="1748" b="0">
                <a:solidFill>
                  <a:srgbClr val="1A1A1A"/>
                </a:solidFill>
                <a:latin typeface="Segoe UI"/>
              </a:rPr>
              <a:t> ou un </a:t>
            </a:r>
            <a:r>
              <a:rPr sz="1748" b="1">
                <a:solidFill>
                  <a:srgbClr val="1A1A1A"/>
                </a:solidFill>
                <a:latin typeface="Segoe UI"/>
              </a:rPr>
              <a:t>changement chez le fournisseur, Croesus</a:t>
            </a:r>
            <a:r>
              <a:rPr sz="1748" b="0">
                <a:solidFill>
                  <a:srgbClr val="1A1A1A"/>
                </a:solidFill>
                <a:latin typeface="Segoe UI"/>
              </a:rPr>
              <a:t>.</a:t>
            </a:r>
          </a:p>
          <a:p>
            <a:pPr>
              <a:spcAft>
                <a:spcPts val="1472"/>
              </a:spcAft>
            </a:pPr>
            <a:r>
              <a:rPr sz="1748">
                <a:solidFill>
                  <a:srgbClr val="0067C0"/>
                </a:solidFill>
                <a:latin typeface="Segoe UI"/>
              </a:rPr>
              <a:t>▪  </a:t>
            </a:r>
            <a:r>
              <a:rPr sz="1748" b="0">
                <a:solidFill>
                  <a:srgbClr val="1A1A1A"/>
                </a:solidFill>
                <a:latin typeface="Segoe UI"/>
              </a:rPr>
              <a:t>Personne n'est en faute à ce stade. Le blocage est un contrôle Zero Trust qui fonctionne comme prévu ; l'inconnue est la nature exacte de l'appel bloqué.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OÙ NOUS EN SOMMES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L'essentiel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0">
                <a:solidFill>
                  <a:srgbClr val="1A1A1A"/>
                </a:solidFill>
                <a:latin typeface="Segoe UI"/>
              </a:rPr>
              <a:t>La topologie d'interface de Central reste </a:t>
            </a:r>
            <a:r>
              <a:rPr sz="1564" b="1">
                <a:solidFill>
                  <a:srgbClr val="1A1A1A"/>
                </a:solidFill>
                <a:latin typeface="Segoe UI"/>
              </a:rPr>
              <a:t>non résolue</a:t>
            </a:r>
            <a:r>
              <a:rPr sz="1564" b="0">
                <a:solidFill>
                  <a:srgbClr val="1A1A1A"/>
                </a:solidFill>
                <a:latin typeface="Segoe UI"/>
              </a:rPr>
              <a:t> : SPA, Web Forms multipage et hybride demeurent possibles. Une URL, les chemins .aspx et PKCE ne la classent pas.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1">
                <a:solidFill>
                  <a:srgbClr val="1A1A1A"/>
                </a:solidFill>
                <a:latin typeface="Segoe UI"/>
              </a:rPr>
              <a:t>SPA et BFF sont compatibles. </a:t>
            </a:r>
            <a:r>
              <a:rPr sz="1564" b="0">
                <a:solidFill>
                  <a:srgbClr val="1A1A1A"/>
                </a:solidFill>
                <a:latin typeface="Segoe UI"/>
              </a:rPr>
              <a:t>Le BFF reste provisoire jusqu'à ce que Q15 confirme la garde des jetons, le témoin de session et la médiation du serveur.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0">
                <a:solidFill>
                  <a:srgbClr val="1A1A1A"/>
                </a:solidFill>
                <a:latin typeface="Segoe UI"/>
              </a:rPr>
              <a:t>Le type d'inscription suit le </a:t>
            </a:r>
            <a:r>
              <a:rPr sz="1564" b="1">
                <a:solidFill>
                  <a:srgbClr val="1A1A1A"/>
                </a:solidFill>
                <a:latin typeface="Segoe UI"/>
              </a:rPr>
              <a:t>composant qui échange le code</a:t>
            </a:r>
            <a:r>
              <a:rPr sz="1564" b="0">
                <a:solidFill>
                  <a:srgbClr val="1A1A1A"/>
                </a:solidFill>
                <a:latin typeface="Segoe UI"/>
              </a:rPr>
              <a:t>. Si le même serveur échange et conserve les jetons, il est un client confidentiel « web ». Un client public distinct peut légitimement rester « spa ».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0">
                <a:solidFill>
                  <a:srgbClr val="1A1A1A"/>
                </a:solidFill>
                <a:latin typeface="Segoe UI"/>
              </a:rPr>
              <a:t>L'écart production / préproduction reste </a:t>
            </a:r>
            <a:r>
              <a:rPr sz="1564" b="1">
                <a:solidFill>
                  <a:srgbClr val="1A1A1A"/>
                </a:solidFill>
                <a:latin typeface="Segoe UI"/>
              </a:rPr>
              <a:t>inexpliqué</a:t>
            </a:r>
            <a:r>
              <a:rPr sz="1564" b="0">
                <a:solidFill>
                  <a:srgbClr val="1A1A1A"/>
                </a:solidFill>
                <a:latin typeface="Segoe UI"/>
              </a:rPr>
              <a:t> — la requête bloquée ne porte aucun contexte d'appareil dans l'un ni l'autre locataire. Desjardins peut trancher seul, cette semaine.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0">
                <a:solidFill>
                  <a:srgbClr val="1A1A1A"/>
                </a:solidFill>
                <a:latin typeface="Segoe UI"/>
              </a:rPr>
              <a:t>Le blocage d'accès conditionnel est </a:t>
            </a:r>
            <a:r>
              <a:rPr sz="1564" b="1">
                <a:solidFill>
                  <a:srgbClr val="1A1A1A"/>
                </a:solidFill>
                <a:latin typeface="Segoe UI"/>
              </a:rPr>
              <a:t>correct par conception</a:t>
            </a:r>
            <a:r>
              <a:rPr sz="1564" b="0">
                <a:solidFill>
                  <a:srgbClr val="1A1A1A"/>
                </a:solidFill>
                <a:latin typeface="Segoe UI"/>
              </a:rPr>
              <a:t>. La mention « Unbound (1008) » est un état de liaison, non une preuve de rejeu ni un indicateur du type d'octroi.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RIGUEUR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Ce que la preuve démontre — et ce qu'elle ne démontre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251960"/>
              </a:tblGrid>
              <a:tr h="777240"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Ce que cela démontre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Ce que cela ne démontre PAS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Appels à /oauth2/v2.0/token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Un jeton est demandé au point de terminaison 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Pas d'OBO. L'échange du code et le renouvellement utilisent le même point de terminaison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État de connexion « Unbound (1008) »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Le client n'est pas intégré au courtier de la plateforme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Pas un rejeu de jeton. Pas un type d'octroi. Hors portée pour navigateur→Graph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L'accès conditionnel a bloqué l'appel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La requête n'avait aucun contexte d'appareil conforme, depuis une IP non approuvée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Rien sur le type d'octroi utilisé — l'accès conditionnel y est indifférent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Les trois inscriptions exportées sont « spa »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Aucun secret, aucun certificat, aucune étendue d'API exposée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Pas l'inventaire complet — d'autres inscriptions peuvent exister (Q8)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ÉTAPE 1 — FAITE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Nouvelle preuve : la trace du navigateur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6" b="0" i="0">
                <a:solidFill>
                  <a:srgbClr val="565656"/>
                </a:solidFill>
                <a:latin typeface="Segoe UI"/>
              </a:rPr>
              <a:t>Un utilisateur de Desjardins a capturé un fichier HAR d'une véritable connexion à Central.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5257800" cy="63500"/>
          </a:xfrm>
          <a:prstGeom prst="rect">
            <a:avLst/>
          </a:prstGeom>
          <a:solidFill>
            <a:srgbClr val="0A7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4" b="1" i="0">
                <a:solidFill>
                  <a:srgbClr val="0A7D28"/>
                </a:solidFill>
                <a:latin typeface="Segoe UI"/>
              </a:rPr>
              <a:t>Présent dans la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80060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/oauth2/v2.0/authorize</a:t>
            </a:r>
          </a:p>
          <a:p>
            <a:pPr>
              <a:spcAft>
                <a:spcPts val="800"/>
              </a:spcAft>
            </a:pPr>
            <a:r>
              <a:rPr sz="1288" b="0">
                <a:solidFill>
                  <a:srgbClr val="1A1A1A"/>
                </a:solidFill>
                <a:latin typeface="Segoe UI"/>
              </a:rPr>
              <a:t>Le volet frontal s'exécute dans le navigateur de l'utilisateur, comme prévu.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317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3640" y="2331720"/>
            <a:ext cx="5257800" cy="63500"/>
          </a:xfrm>
          <a:prstGeom prst="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328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4" b="1" i="0">
                <a:solidFill>
                  <a:srgbClr val="B00020"/>
                </a:solidFill>
                <a:latin typeface="Segoe UI"/>
              </a:rPr>
              <a:t>Absent de la 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480060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/oauth2/v2.0/token — aucune occurrence</a:t>
            </a:r>
          </a:p>
          <a:p>
            <a:pPr>
              <a:spcAft>
                <a:spcPts val="800"/>
              </a:spcAft>
            </a:pPr>
            <a:r>
              <a:rPr sz="1288" b="0">
                <a:solidFill>
                  <a:srgbClr val="1A1A1A"/>
                </a:solidFill>
                <a:latin typeface="Segoe UI"/>
              </a:rPr>
              <a:t>Le code quitte le navigateur, mais il est échangé ailleurs.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48" b="1" i="0">
                <a:solidFill>
                  <a:srgbClr val="001B3D"/>
                </a:solidFill>
                <a:latin typeface="Segoe UI"/>
              </a:rPr>
              <a:t>Conclusion : /token n'apparaît pas dans cette transaction navigateur. Cela concorde avec le témoignage d'Olivier, sans identifier indépendamment le composant qui l'échange.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80" b="0" i="0">
                <a:solidFill>
                  <a:srgbClr val="565656"/>
                </a:solidFill>
                <a:latin typeface="Segoe UI"/>
              </a:rPr>
              <a:t>Conséquence : ce HAR ne classe pas l'interface et ne prouve pas la frontière BFF. Q7, Q8 et Q15 demandent la preuve manquante. Réserve : un seul échantillon, un environnement.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SI L'ÉCHANGE SERVEUR EST CONFIRMÉ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Les deux explications restantes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72" b="0" i="0">
                <a:solidFill>
                  <a:srgbClr val="565656"/>
                </a:solidFill>
                <a:latin typeface="Segoe UI"/>
              </a:rPr>
              <a:t>Entra rejette l'échange côté serveur d'un code d'autorisation « spa » avec l'erreur AADSTS9002327. Si le même serveur échange et conserve les jetons, le succès en production laisse deux explications.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52578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5257800" cy="63500"/>
          </a:xfrm>
          <a:prstGeom prst="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4" b="1" i="0">
                <a:solidFill>
                  <a:srgbClr val="B00020"/>
                </a:solidFill>
                <a:latin typeface="Segoe UI"/>
              </a:rPr>
              <a:t>1 — Un en-tête Origin synthétisé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Un POST de serveur à serveur n'envoie aucun Origin de lui-même.</a:t>
            </a:r>
          </a:p>
          <a:p>
            <a:pPr>
              <a:spcAft>
                <a:spcPts val="800"/>
              </a:spcAft>
            </a:pPr>
            <a:r>
              <a:rPr sz="1288" b="0">
                <a:solidFill>
                  <a:srgbClr val="1A1A1A"/>
                </a:solidFill>
                <a:latin typeface="Segoe UI"/>
              </a:rPr>
              <a:t>S'il y en a un, c'est le code applicatif qui l'ajoute — et un code de type « spa » survit à une règle qu'Entra a écrite pour le refuser.</a:t>
            </a:r>
          </a:p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Correctif : inscrire Central comme client confidentiel « web ». Le prouver avec un secret client — sans bibliothèque ni montée de version — puis durcir avec un certificat.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51760"/>
            <a:ext cx="52578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3640" y="2651760"/>
            <a:ext cx="5257800" cy="63500"/>
          </a:xfrm>
          <a:prstGeom prst="rect">
            <a:avLst/>
          </a:prstGeom>
          <a:solidFill>
            <a:srgbClr val="8A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8529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4" b="1" i="0">
                <a:solidFill>
                  <a:srgbClr val="8A6D00"/>
                </a:solidFill>
                <a:latin typeface="Segoe UI"/>
              </a:rPr>
              <a:t>2 — Une inscription « web » non divulguée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Le serveur dorsal s'authentifie hors de nos trois exports.</a:t>
            </a:r>
          </a:p>
          <a:p>
            <a:pPr>
              <a:spcAft>
                <a:spcPts val="800"/>
              </a:spcAft>
            </a:pPr>
            <a:r>
              <a:rPr sz="1288" b="0">
                <a:solidFill>
                  <a:srgbClr val="1A1A1A"/>
                </a:solidFill>
                <a:latin typeface="Segoe UI"/>
              </a:rPr>
              <a:t>La forme est alors déjà correcte, et elle ne nous a simplement jamais été montrée.</a:t>
            </a:r>
          </a:p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Correctif : Croesus divulgue l'inventaire complet (Q8) ; toute accommodation y est circonscrite.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8" b="0" i="1">
                <a:solidFill>
                  <a:srgbClr val="565656"/>
                </a:solidFill>
                <a:latin typeface="Segoe UI"/>
              </a:rPr>
              <a:t>Par ailleurs, et toujours ouvert : la requête bloquée ne porte aucun contexte d'appareil dans l'UN NI L'AUTRE locataire, et pourtant la production passe. C'est à Desjardins de trancher, à partir de son propre inventaire de stratégies et de ses journaux de connexion.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Pourquoi la forme de l'inscription compte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160520"/>
              </a:tblGrid>
              <a:tr h="623098"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spa (client public)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web (client confidentiel)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Décrit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Un client public de navigateur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Un client serveur confidentiel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Justificatif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Aucun — ni secret, ni certificat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Secret ou certificat requis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Échange d'un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Uniquement depuis une requête de navigateur cross-origin (en-tête Origin)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Depuis un serveur, sans en-tête Origin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Échange côté serveur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Rejeté : AADSTS9002327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Pris en charge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Durée des jetons d'actualisation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Plafonnée à 24 heures, non glissante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Sans ce plafond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3100"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Preuve décisive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Le navigateur échange et garde les jetons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8">
                          <a:solidFill>
                            <a:srgbClr val="1A1A1A"/>
                          </a:solidFill>
                          <a:latin typeface="Segoe UI"/>
                        </a:rPr>
                        <a:t>Le serveur échange et garde les jetons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80" b="0" i="1">
                <a:solidFill>
                  <a:srgbClr val="001B3D"/>
                </a:solidFill>
                <a:latin typeface="Segoe UI"/>
              </a:rPr>
              <a:t>« Les jetons émis pour le type de client ‘Single-Page Application’ ne peuvent être échangés que par des requêtes cross-origin. »  — AADSTS9002327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CAPTURE D'ÉCRAN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La même bifurcation d'architecture, dans la démo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rk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059" y="1783080"/>
            <a:ext cx="4351577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6" b="1">
                <a:latin typeface="Segoe UI"/>
                <a:hlinkClick r:id="rId3"/>
              </a:rPr>
              <a:t>▶  L'ouvrir en direct — croesus-spa.azurewebsites.net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À QUI APPARTIENT LA PREUVE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Qui peut répondre à quoi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91840"/>
                <a:gridCol w="2971800"/>
              </a:tblGrid>
              <a:tr h="617220"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Qui peut répondre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État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Inventaire complet des inscriptions et principaux de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OUVERT — Q8, demande prioritaire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En-tête Origin sur l'appel /token côté serveur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Croesus seulement — sa requête sortante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Ouvert — Q7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Quelle bibliothèque d'authentification, et montée .NET prévue 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Ouvert — Q13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Portée de l'accès conditionnel pour Central : prod vs préprod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Desjardins — son inventaire de stratégies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En cours — valeur la plus élevée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En-tête Origin sur un appel /token côté navigateur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Desjardins — outils de développement du navigateur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Écarté — aucun /token dans le 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715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8" b="1">
                <a:latin typeface="Segoe UI"/>
                <a:hlinkClick r:id="rId2"/>
              </a:rPr>
              <a:t>Détails : README — qui peut capturer l'en-tête Origin de /token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CE QUE NOUS DEMANDONS À CROESUS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Les demandes : Q8 d'abord, puis Q7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57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257800" cy="6350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4" b="1" i="0">
                <a:solidFill>
                  <a:srgbClr val="0067C0"/>
                </a:solidFill>
                <a:latin typeface="Segoe UI"/>
              </a:rPr>
              <a:t>Q8 — inventaire complet des inscriptions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0060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Chaque inscription d'application et principal de service utilisé par GPD Central, tous environnements confondus.</a:t>
            </a:r>
          </a:p>
          <a:p>
            <a:pPr>
              <a:spcAft>
                <a:spcPts val="800"/>
              </a:spcAft>
            </a:pPr>
            <a:r>
              <a:rPr sz="1288" b="0">
                <a:solidFill>
                  <a:srgbClr val="1A1A1A"/>
                </a:solidFill>
                <a:latin typeface="Segoe UI"/>
              </a:rPr>
              <a:t>Y compris toute inscription confidentielle web/API absente des trois exports « spa » que nous détenons.</a:t>
            </a:r>
          </a:p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Une seule réponse sépare les deux explications restantes. C'est la voie la plus rapide vers une configuration prise en charge.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257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5257800" cy="6350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4" b="1" i="0">
                <a:solidFill>
                  <a:srgbClr val="0067C0"/>
                </a:solidFill>
                <a:latin typeface="Segoe UI"/>
              </a:rPr>
              <a:t>Q7 — une capture /token caviardée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80060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Pour une transaction réussie et une transaction en échec :</a:t>
            </a:r>
          </a:p>
          <a:p>
            <a:pPr>
              <a:spcAft>
                <a:spcPts val="800"/>
              </a:spcAft>
            </a:pPr>
            <a:r>
              <a:rPr sz="1288" b="0">
                <a:solidFill>
                  <a:srgbClr val="1A1A1A"/>
                </a:solidFill>
                <a:latin typeface="Segoe UI"/>
              </a:rPr>
              <a:t>Un en-tête Origin est-il présent ?  •  grant_type  •  client_id  •  URI de redirection  •  méthode d'authentification du client</a:t>
            </a:r>
          </a:p>
          <a:p>
            <a:pPr>
              <a:spcAft>
                <a:spcPts val="800"/>
              </a:spcAft>
            </a:pPr>
            <a:r>
              <a:rPr sz="1288" b="1">
                <a:solidFill>
                  <a:srgbClr val="1A1A1A"/>
                </a:solidFill>
                <a:latin typeface="Segoe UI"/>
              </a:rPr>
              <a:t>Indicateurs de présence ou empreintes SHA-256 uniquement. Jamais de codes, jetons, secrets ou assertions bruts.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66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80" b="0" i="0">
                <a:solidFill>
                  <a:srgbClr val="565656"/>
                </a:solidFill>
                <a:latin typeface="Segoe UI"/>
              </a:rPr>
              <a:t>Également ouvertes : Q15 preuve de l'interface et du BFF  •  Q13 bibliothèque d'authentification et feuille de route .NET  •  Q10 ampleur du changement  •  Q12 acheminer les appels Entra par le VPN site à site existant  •  Q4 plages de sortie AWS  •  Q9 Conseiller partage-t-il quoi que ce soit avec Central 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64" b="1">
                <a:latin typeface="Segoe UI"/>
                <a:hlinkClick r:id="rId2"/>
              </a:rPr>
              <a:t>▶  Liste complète des questions Q1–Q15 sur GitHub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NEUF VOIES, CLASSÉES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Échelle de remédiation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1">
                <a:solidFill>
                  <a:srgbClr val="1A1A1A"/>
                </a:solidFill>
                <a:latin typeface="Segoe UI"/>
              </a:rPr>
              <a:t>Vérifier d'abord la parité des locataires — Desjardins seul.</a:t>
            </a:r>
            <a:r>
              <a:rPr sz="1564" b="0">
                <a:solidFill>
                  <a:srgbClr val="1A1A1A"/>
                </a:solidFill>
                <a:latin typeface="Segoe UI"/>
              </a:rPr>
              <a:t> Comparer la portée de l'accès conditionnel appliqué à Central en production et en préproduction. Aucune dépendance au fournisseur, et cela pourrait tout régler.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1">
                <a:solidFill>
                  <a:srgbClr val="1A1A1A"/>
                </a:solidFill>
                <a:latin typeface="Segoe UI"/>
              </a:rPr>
              <a:t>Acheminer les appels Entra par le VPN site à site existant (Q12).</a:t>
            </a:r>
            <a:r>
              <a:rPr sz="1564" b="0">
                <a:solidFill>
                  <a:srgbClr val="1A1A1A"/>
                </a:solidFill>
                <a:latin typeface="Segoe UI"/>
              </a:rPr>
              <a:t> La requête /token sort alors d'une adresse appartenant à Desjardins. Aucun changement de code chez Croesus — le levier à court terme le plus fort.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1">
                <a:solidFill>
                  <a:srgbClr val="1A1A1A"/>
                </a:solidFill>
                <a:latin typeface="Segoe UI"/>
              </a:rPr>
              <a:t>Corriger la forme de l'inscription — spa → web.</a:t>
            </a:r>
            <a:r>
              <a:rPr sz="1564" b="0">
                <a:solidFill>
                  <a:srgbClr val="1A1A1A"/>
                </a:solidFill>
                <a:latin typeface="Segoe UI"/>
              </a:rPr>
              <a:t> Par étapes : un secret client le prouve sans bibliothèque ni montée de version ; un certificat le durcit ensuite. Par locataire, donc Desjardins peut avancer en premier.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1">
                <a:solidFill>
                  <a:srgbClr val="1A1A1A"/>
                </a:solidFill>
                <a:latin typeface="Segoe UI"/>
              </a:rPr>
              <a:t>Écarter la confiance d'appareil comme levier.</a:t>
            </a:r>
            <a:r>
              <a:rPr sz="1564" b="0">
                <a:solidFill>
                  <a:srgbClr val="1A1A1A"/>
                </a:solidFill>
                <a:latin typeface="Segoe UI"/>
              </a:rPr>
              <a:t> « Approuver les appareils conformes » entre locataires ne s'applique qu'à une connexion d'invité B2B. Les postes ne joignent qu'un seul locataire — la production — donc en préproduction « exiger un appareil conforme » est insatisfiable, et non simplement sévère.</a:t>
            </a:r>
          </a:p>
          <a:p>
            <a:pPr>
              <a:spcAft>
                <a:spcPts val="1288"/>
              </a:spcAft>
            </a:pPr>
            <a:r>
              <a:rPr sz="1564">
                <a:solidFill>
                  <a:srgbClr val="0067C0"/>
                </a:solidFill>
                <a:latin typeface="Segoe UI"/>
              </a:rPr>
              <a:t>▪  </a:t>
            </a:r>
            <a:r>
              <a:rPr sz="1564" b="1">
                <a:solidFill>
                  <a:srgbClr val="1A1A1A"/>
                </a:solidFill>
                <a:latin typeface="Segoe UI"/>
              </a:rPr>
              <a:t>Un emplacement nommé est une condition, pas un octroi.</a:t>
            </a:r>
            <a:r>
              <a:rPr sz="1564" b="0">
                <a:solidFill>
                  <a:srgbClr val="1A1A1A"/>
                </a:solidFill>
                <a:latin typeface="Segoe UI"/>
              </a:rPr>
              <a:t> Les contrôles d'octroi se combinent avec ET : un emplacement approuvé ne satisfait pas une exigence d'appareil conforme. On-Behalf-Of reste une option, pas une obligation.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IMPLÉMENTATION DE RÉFÉRENCE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La démo fonctionnelle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4"/>
              </a:spcAft>
            </a:pPr>
            <a:r>
              <a:rPr sz="1472">
                <a:solidFill>
                  <a:srgbClr val="0067C0"/>
                </a:solidFill>
                <a:latin typeface="Segoe UI"/>
              </a:rPr>
              <a:t>▪  </a:t>
            </a:r>
            <a:r>
              <a:rPr sz="1472" b="0">
                <a:solidFill>
                  <a:srgbClr val="1A1A1A"/>
                </a:solidFill>
                <a:latin typeface="Segoe UI"/>
              </a:rPr>
              <a:t>Une application monopage et une API en direct dans un locataire de démonstration Microsoft, qui rendent les formes du flux observables — rien ne s'exécute contre les locataires de Desjardins ou de Croesus.</a:t>
            </a:r>
          </a:p>
          <a:p>
            <a:pPr>
              <a:spcAft>
                <a:spcPts val="1104"/>
              </a:spcAft>
            </a:pPr>
            <a:r>
              <a:rPr sz="1472">
                <a:solidFill>
                  <a:srgbClr val="0067C0"/>
                </a:solidFill>
                <a:latin typeface="Segoe UI"/>
              </a:rPr>
              <a:t>▪  </a:t>
            </a:r>
            <a:r>
              <a:rPr sz="1472" b="1">
                <a:solidFill>
                  <a:srgbClr val="1A1A1A"/>
                </a:solidFill>
                <a:latin typeface="Segoe UI"/>
              </a:rPr>
              <a:t>Le mauvais et le bon :</a:t>
            </a:r>
            <a:r>
              <a:rPr sz="1472" b="0">
                <a:solidFill>
                  <a:srgbClr val="1A1A1A"/>
                </a:solidFill>
                <a:latin typeface="Segoe UI"/>
              </a:rPr>
              <a:t> un rejeu de jeton vers Microsoft Graph est rejeté sur l'audience, tandis qu'un véritable échange On-Behalf-Of émet un jeton distinct, avec sa propre audience.</a:t>
            </a:r>
          </a:p>
          <a:p>
            <a:pPr>
              <a:spcAft>
                <a:spcPts val="1104"/>
              </a:spcAft>
            </a:pPr>
            <a:r>
              <a:rPr sz="1472">
                <a:solidFill>
                  <a:srgbClr val="0067C0"/>
                </a:solidFill>
                <a:latin typeface="Segoe UI"/>
              </a:rPr>
              <a:t>▪  </a:t>
            </a:r>
            <a:r>
              <a:rPr sz="1472" b="1">
                <a:solidFill>
                  <a:srgbClr val="1A1A1A"/>
                </a:solidFill>
                <a:latin typeface="Segoe UI"/>
              </a:rPr>
              <a:t>La bifurcation d'inscription :</a:t>
            </a:r>
            <a:r>
              <a:rPr sz="1472" b="0">
                <a:solidFill>
                  <a:srgbClr val="1A1A1A"/>
                </a:solidFill>
                <a:latin typeface="Segoe UI"/>
              </a:rPr>
              <a:t> un panneau sépare la topologie d'interface de la décision du composant d'échange, avec des liens vers Q8, Q7 et Q15.</a:t>
            </a:r>
          </a:p>
          <a:p>
            <a:pPr>
              <a:spcAft>
                <a:spcPts val="1104"/>
              </a:spcAft>
            </a:pPr>
            <a:r>
              <a:rPr sz="1472">
                <a:solidFill>
                  <a:srgbClr val="0067C0"/>
                </a:solidFill>
                <a:latin typeface="Segoe UI"/>
              </a:rPr>
              <a:t>▪  </a:t>
            </a:r>
            <a:r>
              <a:rPr sz="1472" b="1">
                <a:solidFill>
                  <a:srgbClr val="1A1A1A"/>
                </a:solidFill>
                <a:latin typeface="Segoe UI"/>
              </a:rPr>
              <a:t>Inspecteur de jetons et panneau de preuve :</a:t>
            </a:r>
            <a:r>
              <a:rPr sz="1472" b="0">
                <a:solidFill>
                  <a:srgbClr val="1A1A1A"/>
                </a:solidFill>
                <a:latin typeface="Segoe UI"/>
              </a:rPr>
              <a:t> les revendications décodées montrent une liaison d'audience plutôt qu'un jeton réutilisé. L'inspecteur de jetons bruts est désactivé par défaut — nous demandons des empreintes au fournisseur, nous ne faisons donc pas la démonstration de la copie de jetons vivants.</a:t>
            </a:r>
          </a:p>
          <a:p>
            <a:pPr>
              <a:spcAft>
                <a:spcPts val="1104"/>
              </a:spcAft>
            </a:pPr>
            <a:r>
              <a:rPr sz="1472">
                <a:solidFill>
                  <a:srgbClr val="0067C0"/>
                </a:solidFill>
                <a:latin typeface="Segoe UI"/>
              </a:rPr>
              <a:t>▪  </a:t>
            </a:r>
            <a:r>
              <a:rPr sz="1472" b="1">
                <a:solidFill>
                  <a:srgbClr val="1A1A1A"/>
                </a:solidFill>
                <a:latin typeface="Segoe UI"/>
              </a:rPr>
              <a:t>Pièces de niveau 2 (sous drapeau) :</a:t>
            </a:r>
            <a:r>
              <a:rPr sz="1472" b="0">
                <a:solidFill>
                  <a:srgbClr val="1A1A1A"/>
                </a:solidFill>
                <a:latin typeface="Segoe UI"/>
              </a:rPr>
              <a:t> un contrôle de rejeu côté serveur, et une politique Token Protection en mode rapport seul qui reproduit le signal 1008 réel sur une ressource prise en charge.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40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2"/>
              </a:rPr>
              <a:t>▶  Ouvrir la démo — croesus-spa.azurewebsites.net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52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3"/>
              </a:rPr>
              <a:t>▶  Guide de la démonstration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5440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4"/>
              </a:rPr>
              <a:t>▶  Récit de la preuve (correspondance question par question)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852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5"/>
              </a:rPr>
              <a:t>▶  Requêtes KQL de preuve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EN SORTANT DE CETTE SÉANCE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Prochaines étapes et responsables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937760"/>
                <a:gridCol w="1737360"/>
                <a:gridCol w="3611880"/>
              </a:tblGrid>
              <a:tr h="623098"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>
                          <a:solidFill>
                            <a:srgbClr val="FFFFFF"/>
                          </a:solidFill>
                          <a:latin typeface="Segoe UI"/>
                        </a:rPr>
                        <a:t>Referme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Comparer la portée de l'accès conditionnel pour Central entre production et préproduction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Desjardins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Peut tout régler — sans attendre le fournisseur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Fournir l'inventaire complet des inscriptions et principaux de service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Q8 — prioritaire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Fournir une capture /token caviardée (empreintes ou présence seulement)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Q7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Fournir la preuve de la topologie et de la frontière BFF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Q15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Confirmer la bibliothèque d'authentification et toute montée de version .NET prévue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Q13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3100"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Évaluer l'acheminement des appels Entra par le VPN site à site existant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Conjoint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>
                          <a:solidFill>
                            <a:srgbClr val="1A1A1A"/>
                          </a:solidFill>
                          <a:latin typeface="Segoe UI"/>
                        </a:rPr>
                        <a:t>Q12 — déblocage le plus rapide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4" b="1" i="0">
                <a:solidFill>
                  <a:srgbClr val="B00020"/>
                </a:solidFill>
                <a:latin typeface="Segoe UI"/>
              </a:rPr>
              <a:t>Garde-fou d'ici là : ne pas modifier l'accès conditionnel, ne pas mettre les IP de sortie AWS en liste d'autorisation, ne pas imposer On-Behalf-Of, et ne rien généraliser à Conseiller.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4" b="1" i="0">
                <a:solidFill>
                  <a:srgbClr val="0067C0"/>
                </a:solidFill>
                <a:latin typeface="Segoe UI"/>
              </a:rPr>
              <a:t>TOUT CE QUI EST RÉFÉRENCÉ DANS CETTE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44" b="1" i="0">
                <a:solidFill>
                  <a:srgbClr val="001B3D"/>
                </a:solidFill>
                <a:latin typeface="Segoe UI"/>
              </a:rPr>
              <a:t>Liens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2"/>
              </a:rPr>
              <a:t>▶  Constats de la séance et les neuf voies — COMMENCER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3"/>
              </a:rPr>
              <a:t>▶  Voies et contournements (R1–R9)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4"/>
              </a:rPr>
              <a:t>▶  Liste des questions Q1–Q15 (dossier d'escalade)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5"/>
              </a:rPr>
              <a:t>▶  Dossier d'escalade — document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6"/>
              </a:rPr>
              <a:t>▶  Analyse complète — README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7"/>
              </a:rPr>
              <a:t>▶  Qui peut capturer l'en-tête Origin de /token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8"/>
              </a:rPr>
              <a:t>▶  Récit de la preuve — correspondance question par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9"/>
              </a:rPr>
              <a:t>▶  Guide de démonstration On-Behalf-Of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10"/>
              </a:rPr>
              <a:t>▶  Requêtes KQL de preuve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72" b="1">
                <a:latin typeface="Segoe UI"/>
                <a:hlinkClick r:id="rId11"/>
              </a:rPr>
              <a:t>▶  Application de démonstration en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