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Cadrage : il s'agit d'une séance conjointe d'établissement des faits, non d'un rapport de défaut. Le blocage d'accès conditionnel est correct par conception. Il reste une question ouverte et deux demandes qui la referment.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Garder un ton collaboratif. Dire clairement que le blocage n'est ni une mauvaise configuration de Desjardins, ni une accusation envers Croesus.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diapositive est le résumé exécutif. Si la séance s'arrête après cinq minutes, ce sont ces cinq lignes qui doivent passer.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diapositive de crédibilité. Montrer ce que nous refusons de sur-interpréter donne le droit de formuler la demande de la diapositive 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Créditer Mathieu pour cette capture. Souligner qu'elle confirme ce que Croesus a affirmé — nous validons le fournisseur, nous ne le contredisons pas.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diapositive centrale de l'hypothèse. Exactement une branche est vraie, et chacune appelle une remédiation différente et modeste. Ni l'une ni l'autre n'est une crise.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Formuler le point techniquement, sans accusation : c'est une règle de la plateforme, pas une opinion. Et le correctif est peu coûteux dans les deux branches.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panneau s'affiche sans connexion : il peut donc être présenté en partage d'écran. Q7, Q8 et la liste complète des questions sont cliquables directement depuis la page. L'interface de la démo est en anglais.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L'en-tête Origin brut n'est jamais un champ des journaux de connexion du locataire. Il n'existe que sur la requête HTTP envoyée à Entra par l'appelant.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d'emblée sur la règle de caviardage. C'est ce qui rend Q7 répondable par un fournisseur soucieux de sécurité.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message : chaque branche a un correctif modeste et réversible. Personne n'a besoin d'une refonte, et Desjardins n'a pas à affaiblir son accès conditionnel. Sur la confiance d'appareil — créditer Mathieu Santerre pour la correction : les paramètres de confiance entrante honorent une revendication d'appareil portée par le jeton d'un invité provenant de son locataire d'origine ; ils ne peuvent donc pas transposer l'état d'appareil de Prod dans une connexion native en préproduction.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Ordre de la démo : se connecter, appeler l'API, montrer le panneau de preuve, puis le bouton de rejeu, puis faire défiler jusqu'au panneau de bifurcation d'inscription et cliquer vers Q7/Q8.</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Conclure en redisant le garde-fou. Il protège les deux parties : aucun relâchement prématuré de politique, aucune refonte prématurée du côté du fournisseur.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Partager la présentation elle-même — tous les liens sont cliquables en mode diaporama.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roesus-spa.azurewebsites.net" TargetMode="External"/><Relationship Id="rId3" Type="http://schemas.openxmlformats.org/officeDocument/2006/relationships/hyperlink" Target="https://github.com/devopsabcs-engineering/croesus/blob/main/assets/croesus-escalation-packet.md#2-questions-for-croesus" TargetMode="External"/><Relationship Id="rId4" Type="http://schemas.openxmlformats.org/officeDocument/2006/relationships/hyperlink" Target="https://github.com/devopsabcs-engineering/croesus/blob/main/README.md"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croesus-spa.azurewebsites.net"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evopsabcs-engineering/croesus/blob/main/README.md#who-can-capture-the-token-origin-header"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evopsabcs-engineering/croesus/blob/main/assets/croesus-escalation-packet.md#2-questions-for-croesus"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roesus-spa.azurewebsites.net" TargetMode="External"/><Relationship Id="rId3" Type="http://schemas.openxmlformats.org/officeDocument/2006/relationships/hyperlink" Target="https://github.com/devopsabcs-engineering/croesus/blob/main/docs/obo-demo-guide.md" TargetMode="External"/><Relationship Id="rId4" Type="http://schemas.openxmlformats.org/officeDocument/2006/relationships/hyperlink" Target="https://github.com/devopsabcs-engineering/croesus/blob/main/docs/evidence-narrative.md" TargetMode="External"/><Relationship Id="rId5" Type="http://schemas.openxmlformats.org/officeDocument/2006/relationships/hyperlink" Target="https://github.com/devopsabcs-engineering/croesus/blob/main/scripts/evidence-kql.kusto" TargetMode="Externa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devopsabcs-engineering/croesus/blob/main/assets/croesus-escalation-packet.md#2-questions-for-croesus" TargetMode="External"/><Relationship Id="rId3" Type="http://schemas.openxmlformats.org/officeDocument/2006/relationships/hyperlink" Target="https://github.com/devopsabcs-engineering/croesus/blob/main/assets/croesus-escalation-packet.md" TargetMode="External"/><Relationship Id="rId4" Type="http://schemas.openxmlformats.org/officeDocument/2006/relationships/hyperlink" Target="https://github.com/devopsabcs-engineering/croesus/blob/main/README.md" TargetMode="External"/><Relationship Id="rId5" Type="http://schemas.openxmlformats.org/officeDocument/2006/relationships/hyperlink" Target="https://github.com/devopsabcs-engineering/croesus/blob/main/README.md#who-can-capture-the-token-origin-header" TargetMode="External"/><Relationship Id="rId6" Type="http://schemas.openxmlformats.org/officeDocument/2006/relationships/hyperlink" Target="https://github.com/devopsabcs-engineering/croesus/blob/main/docs/evidence-narrative.md" TargetMode="External"/><Relationship Id="rId7" Type="http://schemas.openxmlformats.org/officeDocument/2006/relationships/hyperlink" Target="https://github.com/devopsabcs-engineering/croesus/blob/main/docs/obo-demo-guide.md" TargetMode="External"/><Relationship Id="rId8" Type="http://schemas.openxmlformats.org/officeDocument/2006/relationships/hyperlink" Target="https://github.com/devopsabcs-engineering/croesus/blob/main/scripts/evidence-kql.kusto" TargetMode="External"/><Relationship Id="rId9" Type="http://schemas.openxmlformats.org/officeDocument/2006/relationships/hyperlink" Target="https://github.com/devopsabcs-engineering/croesus" TargetMode="External"/><Relationship Id="rId10" Type="http://schemas.openxmlformats.org/officeDocument/2006/relationships/hyperlink" Target="https://croesus-spa.azurewebsites.net" TargetMode="External"/><Relationship Id="rId11"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651760"/>
          </a:xfrm>
          <a:prstGeom prst="rect">
            <a:avLst/>
          </a:prstGeom>
          <a:solidFill>
            <a:srgbClr val="001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777240"/>
            <a:ext cx="10698480" cy="365760"/>
          </a:xfrm>
          <a:prstGeom prst="rect">
            <a:avLst/>
          </a:prstGeom>
          <a:noFill/>
        </p:spPr>
        <p:txBody>
          <a:bodyPr wrap="square">
            <a:spAutoFit/>
          </a:bodyPr>
          <a:lstStyle/>
          <a:p>
            <a:pPr algn="l"/>
            <a:r>
              <a:rPr sz="1196" b="1" i="0">
                <a:solidFill>
                  <a:srgbClr val="7FC4FF"/>
                </a:solidFill>
                <a:latin typeface="Segoe UI"/>
              </a:rPr>
              <a:t>DESJARDINS — CROESUS — MICROSOFT  |  SÉANCE DE TRAVAIL CONJOINTE</a:t>
            </a:r>
          </a:p>
        </p:txBody>
      </p:sp>
      <p:sp>
        <p:nvSpPr>
          <p:cNvPr id="4" name="TextBox 3"/>
          <p:cNvSpPr txBox="1"/>
          <p:nvPr/>
        </p:nvSpPr>
        <p:spPr>
          <a:xfrm>
            <a:off x="731520" y="1143000"/>
            <a:ext cx="10698480" cy="1280160"/>
          </a:xfrm>
          <a:prstGeom prst="rect">
            <a:avLst/>
          </a:prstGeom>
          <a:noFill/>
        </p:spPr>
        <p:txBody>
          <a:bodyPr wrap="square">
            <a:spAutoFit/>
          </a:bodyPr>
          <a:lstStyle/>
          <a:p>
            <a:pPr algn="l"/>
            <a:r>
              <a:rPr sz="3128" b="1" i="0">
                <a:solidFill>
                  <a:srgbClr val="FFFFFF"/>
                </a:solidFill>
                <a:latin typeface="Segoe UI"/>
              </a:rPr>
              <a:t>SSO GPD Central : ce que la preuve démontre,
et les deux questions qui règlent le dossier</a:t>
            </a:r>
          </a:p>
        </p:txBody>
      </p:sp>
      <p:sp>
        <p:nvSpPr>
          <p:cNvPr id="5" name="TextBox 4"/>
          <p:cNvSpPr txBox="1"/>
          <p:nvPr/>
        </p:nvSpPr>
        <p:spPr>
          <a:xfrm>
            <a:off x="731520" y="2971800"/>
            <a:ext cx="10698480" cy="457200"/>
          </a:xfrm>
          <a:prstGeom prst="rect">
            <a:avLst/>
          </a:prstGeom>
          <a:noFill/>
        </p:spPr>
        <p:txBody>
          <a:bodyPr wrap="square">
            <a:spAutoFit/>
          </a:bodyPr>
          <a:lstStyle/>
          <a:p>
            <a:pPr algn="l"/>
            <a:r>
              <a:rPr sz="1656" b="0" i="0">
                <a:solidFill>
                  <a:srgbClr val="565656"/>
                </a:solidFill>
                <a:latin typeface="Segoe UI"/>
              </a:rPr>
              <a:t>Inscriptions d'applications Entra ID, accès conditionnel et l'échange du code sur /token côté serveur</a:t>
            </a:r>
          </a:p>
        </p:txBody>
      </p:sp>
      <p:sp>
        <p:nvSpPr>
          <p:cNvPr id="6" name="TextBox 5"/>
          <p:cNvSpPr txBox="1"/>
          <p:nvPr/>
        </p:nvSpPr>
        <p:spPr>
          <a:xfrm>
            <a:off x="731520" y="3520440"/>
            <a:ext cx="4572000" cy="365760"/>
          </a:xfrm>
          <a:prstGeom prst="rect">
            <a:avLst/>
          </a:prstGeom>
          <a:noFill/>
        </p:spPr>
        <p:txBody>
          <a:bodyPr wrap="square">
            <a:spAutoFit/>
          </a:bodyPr>
          <a:lstStyle/>
          <a:p>
            <a:pPr algn="l"/>
            <a:r>
              <a:rPr sz="1380" b="0" i="0">
                <a:solidFill>
                  <a:srgbClr val="565656"/>
                </a:solidFill>
                <a:latin typeface="Segoe UI"/>
              </a:rPr>
              <a:t>3 août 2026</a:t>
            </a:r>
          </a:p>
        </p:txBody>
      </p:sp>
      <p:sp>
        <p:nvSpPr>
          <p:cNvPr id="7" name="TextBox 6"/>
          <p:cNvSpPr txBox="1"/>
          <p:nvPr/>
        </p:nvSpPr>
        <p:spPr>
          <a:xfrm>
            <a:off x="731520" y="4206240"/>
            <a:ext cx="5943600" cy="365760"/>
          </a:xfrm>
          <a:prstGeom prst="rect">
            <a:avLst/>
          </a:prstGeom>
          <a:noFill/>
        </p:spPr>
        <p:txBody>
          <a:bodyPr wrap="square">
            <a:spAutoFit/>
          </a:bodyPr>
          <a:lstStyle/>
          <a:p>
            <a:r>
              <a:rPr sz="1472" b="1">
                <a:latin typeface="Segoe UI"/>
                <a:hlinkClick r:id="rId2"/>
              </a:rPr>
              <a:t>▶  Démo en direct — croesus-spa.azurewebsites.net</a:t>
            </a:r>
          </a:p>
        </p:txBody>
      </p:sp>
      <p:sp>
        <p:nvSpPr>
          <p:cNvPr id="8" name="TextBox 7"/>
          <p:cNvSpPr txBox="1"/>
          <p:nvPr/>
        </p:nvSpPr>
        <p:spPr>
          <a:xfrm>
            <a:off x="731520" y="4663440"/>
            <a:ext cx="5943600" cy="365760"/>
          </a:xfrm>
          <a:prstGeom prst="rect">
            <a:avLst/>
          </a:prstGeom>
          <a:noFill/>
        </p:spPr>
        <p:txBody>
          <a:bodyPr wrap="square">
            <a:spAutoFit/>
          </a:bodyPr>
          <a:lstStyle/>
          <a:p>
            <a:r>
              <a:rPr sz="1472" b="1">
                <a:latin typeface="Segoe UI"/>
                <a:hlinkClick r:id="rId3"/>
              </a:rPr>
              <a:t>▶  Liste des questions (Q1–Q9) sur GitHub</a:t>
            </a:r>
          </a:p>
        </p:txBody>
      </p:sp>
      <p:sp>
        <p:nvSpPr>
          <p:cNvPr id="9" name="TextBox 8"/>
          <p:cNvSpPr txBox="1"/>
          <p:nvPr/>
        </p:nvSpPr>
        <p:spPr>
          <a:xfrm>
            <a:off x="731520" y="5120640"/>
            <a:ext cx="5943600" cy="365760"/>
          </a:xfrm>
          <a:prstGeom prst="rect">
            <a:avLst/>
          </a:prstGeom>
          <a:noFill/>
        </p:spPr>
        <p:txBody>
          <a:bodyPr wrap="square">
            <a:spAutoFit/>
          </a:bodyPr>
          <a:lstStyle/>
          <a:p>
            <a:r>
              <a:rPr sz="1472" b="1">
                <a:latin typeface="Segoe UI"/>
                <a:hlinkClick r:id="rId4"/>
              </a:rPr>
              <a:t>▶  Analyse complète — README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640080" y="384048"/>
            <a:ext cx="10881360" cy="320040"/>
          </a:xfrm>
          <a:prstGeom prst="rect">
            <a:avLst/>
          </a:prstGeom>
          <a:noFill/>
        </p:spPr>
        <p:txBody>
          <a:bodyPr wrap="square">
            <a:spAutoFit/>
          </a:bodyPr>
          <a:lstStyle/>
          <a:p>
            <a:pPr algn="l"/>
            <a:r>
              <a:rPr sz="1104" b="1" i="0">
                <a:solidFill>
                  <a:srgbClr val="0067C0"/>
                </a:solidFill>
                <a:latin typeface="Segoe UI"/>
              </a:rPr>
              <a:t>POURQUOI NOUS SOMMES ICI</a:t>
            </a:r>
          </a:p>
        </p:txBody>
      </p:sp>
      <p:sp>
        <p:nvSpPr>
          <p:cNvPr id="3" name="TextBox 2"/>
          <p:cNvSpPr txBox="1"/>
          <p:nvPr/>
        </p:nvSpPr>
        <p:spPr>
          <a:xfrm>
            <a:off x="640080" y="685800"/>
            <a:ext cx="10881360" cy="777240"/>
          </a:xfrm>
          <a:prstGeom prst="rect">
            <a:avLst/>
          </a:prstGeom>
          <a:noFill/>
        </p:spPr>
        <p:txBody>
          <a:bodyPr wrap="square">
            <a:spAutoFit/>
          </a:bodyPr>
          <a:lstStyle/>
          <a:p>
            <a:pPr algn="l"/>
            <a:r>
              <a:rPr sz="2944" b="1" i="0">
                <a:solidFill>
                  <a:srgbClr val="001B3D"/>
                </a:solidFill>
                <a:latin typeface="Segoe UI"/>
              </a:rPr>
              <a:t>La question posée</a:t>
            </a:r>
          </a:p>
        </p:txBody>
      </p:sp>
      <p:sp>
        <p:nvSpPr>
          <p:cNvPr id="4" name="Rectangle 3"/>
          <p:cNvSpPr/>
          <p:nvPr/>
        </p:nvSpPr>
        <p:spPr>
          <a:xfrm>
            <a:off x="640080" y="1481328"/>
            <a:ext cx="10881360" cy="31750"/>
          </a:xfrm>
          <a:prstGeom prst="rect">
            <a:avLst/>
          </a:prstGeom>
          <a:solidFill>
            <a:srgbClr val="006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65960"/>
            <a:ext cx="10789920" cy="4206240"/>
          </a:xfrm>
          <a:prstGeom prst="rect">
            <a:avLst/>
          </a:prstGeom>
          <a:noFill/>
        </p:spPr>
        <p:txBody>
          <a:bodyPr wrap="square">
            <a:spAutoFit/>
          </a:bodyPr>
          <a:lstStyle/>
          <a:p>
            <a:pPr>
              <a:spcAft>
                <a:spcPts val="1472"/>
              </a:spcAft>
            </a:pPr>
            <a:r>
              <a:rPr sz="1748">
                <a:solidFill>
                  <a:srgbClr val="0067C0"/>
                </a:solidFill>
                <a:latin typeface="Segoe UI"/>
              </a:rPr>
              <a:t>▪  </a:t>
            </a:r>
            <a:r>
              <a:rPr sz="1748" b="0">
                <a:solidFill>
                  <a:srgbClr val="1A1A1A"/>
                </a:solidFill>
                <a:latin typeface="Segoe UI"/>
              </a:rPr>
              <a:t>Les utilisateurs de Desjardins se connectent à GPD Central. Une </a:t>
            </a:r>
            <a:r>
              <a:rPr sz="1748" b="1">
                <a:solidFill>
                  <a:srgbClr val="1A1A1A"/>
                </a:solidFill>
                <a:latin typeface="Segoe UI"/>
              </a:rPr>
              <a:t>deuxième connexion, non interactive</a:t>
            </a:r>
            <a:r>
              <a:rPr sz="1748" b="0">
                <a:solidFill>
                  <a:srgbClr val="1A1A1A"/>
                </a:solidFill>
                <a:latin typeface="Segoe UI"/>
              </a:rPr>
              <a:t>, provient ensuite du serveur dorsal Croesus hébergé sur AWS et se voit </a:t>
            </a:r>
            <a:r>
              <a:rPr sz="1748" b="1">
                <a:solidFill>
                  <a:srgbClr val="1A1A1A"/>
                </a:solidFill>
                <a:latin typeface="Segoe UI"/>
              </a:rPr>
              <a:t>bloquée par l'accès conditionnel</a:t>
            </a:r>
            <a:r>
              <a:rPr sz="1748" b="0">
                <a:solidFill>
                  <a:srgbClr val="1A1A1A"/>
                </a:solidFill>
                <a:latin typeface="Segoe UI"/>
              </a:rPr>
              <a:t> en préproduction.</a:t>
            </a:r>
          </a:p>
          <a:p>
            <a:pPr>
              <a:spcAft>
                <a:spcPts val="1472"/>
              </a:spcAft>
            </a:pPr>
            <a:r>
              <a:rPr sz="1748">
                <a:solidFill>
                  <a:srgbClr val="0067C0"/>
                </a:solidFill>
                <a:latin typeface="Segoe UI"/>
              </a:rPr>
              <a:t>▪  </a:t>
            </a:r>
            <a:r>
              <a:rPr sz="1748" b="1">
                <a:solidFill>
                  <a:srgbClr val="1A1A1A"/>
                </a:solidFill>
                <a:latin typeface="Segoe UI"/>
              </a:rPr>
              <a:t>Une seule question : est-ce un comportement OAuth attendu, ou une mauvaise configuration ?</a:t>
            </a:r>
          </a:p>
          <a:p>
            <a:pPr>
              <a:spcAft>
                <a:spcPts val="1472"/>
              </a:spcAft>
            </a:pPr>
            <a:r>
              <a:rPr sz="1748">
                <a:solidFill>
                  <a:srgbClr val="0067C0"/>
                </a:solidFill>
                <a:latin typeface="Segoe UI"/>
              </a:rPr>
              <a:t>▪  </a:t>
            </a:r>
            <a:r>
              <a:rPr sz="1748" b="0">
                <a:solidFill>
                  <a:srgbClr val="1A1A1A"/>
                </a:solidFill>
                <a:latin typeface="Segoe UI"/>
              </a:rPr>
              <a:t>La réponse détermine le correctif — un </a:t>
            </a:r>
            <a:r>
              <a:rPr sz="1748" b="1">
                <a:solidFill>
                  <a:srgbClr val="1A1A1A"/>
                </a:solidFill>
                <a:latin typeface="Segoe UI"/>
              </a:rPr>
              <a:t>changement interne chez Desjardins</a:t>
            </a:r>
            <a:r>
              <a:rPr sz="1748" b="0">
                <a:solidFill>
                  <a:srgbClr val="1A1A1A"/>
                </a:solidFill>
                <a:latin typeface="Segoe UI"/>
              </a:rPr>
              <a:t> ou un </a:t>
            </a:r>
            <a:r>
              <a:rPr sz="1748" b="1">
                <a:solidFill>
                  <a:srgbClr val="1A1A1A"/>
                </a:solidFill>
                <a:latin typeface="Segoe UI"/>
              </a:rPr>
              <a:t>changement chez le fournisseur, Croesus</a:t>
            </a:r>
            <a:r>
              <a:rPr sz="1748" b="0">
                <a:solidFill>
                  <a:srgbClr val="1A1A1A"/>
                </a:solidFill>
                <a:latin typeface="Segoe UI"/>
              </a:rPr>
              <a:t>.</a:t>
            </a:r>
          </a:p>
          <a:p>
            <a:pPr>
              <a:spcAft>
                <a:spcPts val="1472"/>
              </a:spcAft>
            </a:pPr>
            <a:r>
              <a:rPr sz="1748">
                <a:solidFill>
                  <a:srgbClr val="0067C0"/>
                </a:solidFill>
                <a:latin typeface="Segoe UI"/>
              </a:rPr>
              <a:t>▪  </a:t>
            </a:r>
            <a:r>
              <a:rPr sz="1748" b="0">
                <a:solidFill>
                  <a:srgbClr val="1A1A1A"/>
                </a:solidFill>
                <a:latin typeface="Segoe UI"/>
              </a:rPr>
              <a:t>Personne n'est en faute à ce stade. Le blocage est un contrôle Zero Trust qui fonctionne comme prévu ; l'inconnue est la nature exacte de l'appel bloqué.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640080" y="384048"/>
            <a:ext cx="10881360" cy="320040"/>
          </a:xfrm>
          <a:prstGeom prst="rect">
            <a:avLst/>
          </a:prstGeom>
          <a:noFill/>
        </p:spPr>
        <p:txBody>
          <a:bodyPr wrap="square">
            <a:spAutoFit/>
          </a:bodyPr>
          <a:lstStyle/>
          <a:p>
            <a:pPr algn="l"/>
            <a:r>
              <a:rPr sz="1104" b="1" i="0">
                <a:solidFill>
                  <a:srgbClr val="0067C0"/>
                </a:solidFill>
                <a:latin typeface="Segoe UI"/>
              </a:rPr>
              <a:t>OÙ NOUS EN SOMMES</a:t>
            </a:r>
          </a:p>
        </p:txBody>
      </p:sp>
      <p:sp>
        <p:nvSpPr>
          <p:cNvPr id="3" name="TextBox 2"/>
          <p:cNvSpPr txBox="1"/>
          <p:nvPr/>
        </p:nvSpPr>
        <p:spPr>
          <a:xfrm>
            <a:off x="640080" y="685800"/>
            <a:ext cx="10881360" cy="777240"/>
          </a:xfrm>
          <a:prstGeom prst="rect">
            <a:avLst/>
          </a:prstGeom>
          <a:noFill/>
        </p:spPr>
        <p:txBody>
          <a:bodyPr wrap="square">
            <a:spAutoFit/>
          </a:bodyPr>
          <a:lstStyle/>
          <a:p>
            <a:pPr algn="l"/>
            <a:r>
              <a:rPr sz="2944" b="1" i="0">
                <a:solidFill>
                  <a:srgbClr val="001B3D"/>
                </a:solidFill>
                <a:latin typeface="Segoe UI"/>
              </a:rPr>
              <a:t>L'essentiel</a:t>
            </a:r>
          </a:p>
        </p:txBody>
      </p:sp>
      <p:sp>
        <p:nvSpPr>
          <p:cNvPr id="4" name="Rectangle 3"/>
          <p:cNvSpPr/>
          <p:nvPr/>
        </p:nvSpPr>
        <p:spPr>
          <a:xfrm>
            <a:off x="640080" y="1481328"/>
            <a:ext cx="10881360" cy="31750"/>
          </a:xfrm>
          <a:prstGeom prst="rect">
            <a:avLst/>
          </a:prstGeom>
          <a:solidFill>
            <a:srgbClr val="006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20240"/>
            <a:ext cx="10789920" cy="4206240"/>
          </a:xfrm>
          <a:prstGeom prst="rect">
            <a:avLst/>
          </a:prstGeom>
          <a:noFill/>
        </p:spPr>
        <p:txBody>
          <a:bodyPr wrap="square">
            <a:spAutoFit/>
          </a:bodyPr>
          <a:lstStyle/>
          <a:p>
            <a:pPr>
              <a:spcAft>
                <a:spcPts val="1288"/>
              </a:spcAft>
            </a:pPr>
            <a:r>
              <a:rPr sz="1564">
                <a:solidFill>
                  <a:srgbClr val="0067C0"/>
                </a:solidFill>
                <a:latin typeface="Segoe UI"/>
              </a:rPr>
              <a:t>▪  </a:t>
            </a:r>
            <a:r>
              <a:rPr sz="1564" b="0">
                <a:solidFill>
                  <a:srgbClr val="1A1A1A"/>
                </a:solidFill>
                <a:latin typeface="Segoe UI"/>
              </a:rPr>
              <a:t>Le blocage d'accès conditionnel est </a:t>
            </a:r>
            <a:r>
              <a:rPr sz="1564" b="1">
                <a:solidFill>
                  <a:srgbClr val="1A1A1A"/>
                </a:solidFill>
                <a:latin typeface="Segoe UI"/>
              </a:rPr>
              <a:t>correct par conception</a:t>
            </a:r>
            <a:r>
              <a:rPr sz="1564" b="0">
                <a:solidFill>
                  <a:srgbClr val="1A1A1A"/>
                </a:solidFill>
                <a:latin typeface="Segoe UI"/>
              </a:rPr>
              <a:t>. L'accès conditionnel réagit à l'origine et au contexte de la requête, pas au type d'octroi.</a:t>
            </a:r>
          </a:p>
          <a:p>
            <a:pPr>
              <a:spcAft>
                <a:spcPts val="1288"/>
              </a:spcAft>
            </a:pPr>
            <a:r>
              <a:rPr sz="1564">
                <a:solidFill>
                  <a:srgbClr val="0067C0"/>
                </a:solidFill>
                <a:latin typeface="Segoe UI"/>
              </a:rPr>
              <a:t>▪  </a:t>
            </a:r>
            <a:r>
              <a:rPr sz="1564" b="0">
                <a:solidFill>
                  <a:srgbClr val="1A1A1A"/>
                </a:solidFill>
                <a:latin typeface="Segoe UI"/>
              </a:rPr>
              <a:t>L'échange du code sur /token est désormais </a:t>
            </a:r>
            <a:r>
              <a:rPr sz="1564" b="1">
                <a:solidFill>
                  <a:srgbClr val="1A1A1A"/>
                </a:solidFill>
                <a:latin typeface="Segoe UI"/>
              </a:rPr>
              <a:t>confirmé côté serveur</a:t>
            </a:r>
            <a:r>
              <a:rPr sz="1564" b="0">
                <a:solidFill>
                  <a:srgbClr val="1A1A1A"/>
                </a:solidFill>
                <a:latin typeface="Segoe UI"/>
              </a:rPr>
              <a:t> — une trace de navigateur de Desjardins montre /authorize mais aucun /token. Cela corrobore Croesus.</a:t>
            </a:r>
          </a:p>
          <a:p>
            <a:pPr>
              <a:spcAft>
                <a:spcPts val="1288"/>
              </a:spcAft>
            </a:pPr>
            <a:r>
              <a:rPr sz="1564">
                <a:solidFill>
                  <a:srgbClr val="0067C0"/>
                </a:solidFill>
                <a:latin typeface="Segoe UI"/>
              </a:rPr>
              <a:t>▪  </a:t>
            </a:r>
            <a:r>
              <a:rPr sz="1564" b="0">
                <a:solidFill>
                  <a:srgbClr val="1A1A1A"/>
                </a:solidFill>
                <a:latin typeface="Segoe UI"/>
              </a:rPr>
              <a:t>Le type d'octroi n'est </a:t>
            </a:r>
            <a:r>
              <a:rPr sz="1564" b="1">
                <a:solidFill>
                  <a:srgbClr val="1A1A1A"/>
                </a:solidFill>
                <a:latin typeface="Segoe UI"/>
              </a:rPr>
              <a:t>toujours pas établi</a:t>
            </a:r>
            <a:r>
              <a:rPr sz="1564" b="0">
                <a:solidFill>
                  <a:srgbClr val="1A1A1A"/>
                </a:solidFill>
                <a:latin typeface="Segoe UI"/>
              </a:rPr>
              <a:t> à partir d'une requête capturée. /token est le point de terminaison normal pour l'échange du code et le renouvellement — ce n'est pas une preuve d'On-Behalf-Of.</a:t>
            </a:r>
          </a:p>
          <a:p>
            <a:pPr>
              <a:spcAft>
                <a:spcPts val="1288"/>
              </a:spcAft>
            </a:pPr>
            <a:r>
              <a:rPr sz="1564">
                <a:solidFill>
                  <a:srgbClr val="0067C0"/>
                </a:solidFill>
                <a:latin typeface="Segoe UI"/>
              </a:rPr>
              <a:t>▪  </a:t>
            </a:r>
            <a:r>
              <a:rPr sz="1564" b="0">
                <a:solidFill>
                  <a:srgbClr val="1A1A1A"/>
                </a:solidFill>
                <a:latin typeface="Segoe UI"/>
              </a:rPr>
              <a:t>La mention « Unbound (1008) » est un </a:t>
            </a:r>
            <a:r>
              <a:rPr sz="1564" b="1">
                <a:solidFill>
                  <a:srgbClr val="1A1A1A"/>
                </a:solidFill>
                <a:latin typeface="Segoe UI"/>
              </a:rPr>
              <a:t>état de liaison d'appareil et de session</a:t>
            </a:r>
            <a:r>
              <a:rPr sz="1564" b="0">
                <a:solidFill>
                  <a:srgbClr val="1A1A1A"/>
                </a:solidFill>
                <a:latin typeface="Segoe UI"/>
              </a:rPr>
              <a:t>, non une preuve de rejeu de jeton et non un indicateur du type d'octroi.</a:t>
            </a:r>
          </a:p>
          <a:p>
            <a:pPr>
              <a:spcAft>
                <a:spcPts val="1288"/>
              </a:spcAft>
            </a:pPr>
            <a:r>
              <a:rPr sz="1564">
                <a:solidFill>
                  <a:srgbClr val="0067C0"/>
                </a:solidFill>
                <a:latin typeface="Segoe UI"/>
              </a:rPr>
              <a:t>▪  </a:t>
            </a:r>
            <a:r>
              <a:rPr sz="1564" b="0">
                <a:solidFill>
                  <a:srgbClr val="1A1A1A"/>
                </a:solidFill>
                <a:latin typeface="Segoe UI"/>
              </a:rPr>
              <a:t>Prochaine étape : régler la bifurcation avec </a:t>
            </a:r>
            <a:r>
              <a:rPr sz="1564" b="1">
                <a:solidFill>
                  <a:srgbClr val="1A1A1A"/>
                </a:solidFill>
                <a:latin typeface="Segoe UI"/>
              </a:rPr>
              <a:t>Q7 et Q8</a:t>
            </a:r>
            <a:r>
              <a:rPr sz="1564" b="0">
                <a:solidFill>
                  <a:srgbClr val="1A1A1A"/>
                </a:solidFill>
                <a:latin typeface="Segoe UI"/>
              </a:rPr>
              <a:t>. Ne rien modifier dans l'accès conditionnel d'ici là.</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640080" y="384048"/>
            <a:ext cx="10881360" cy="320040"/>
          </a:xfrm>
          <a:prstGeom prst="rect">
            <a:avLst/>
          </a:prstGeom>
          <a:noFill/>
        </p:spPr>
        <p:txBody>
          <a:bodyPr wrap="square">
            <a:spAutoFit/>
          </a:bodyPr>
          <a:lstStyle/>
          <a:p>
            <a:pPr algn="l"/>
            <a:r>
              <a:rPr sz="1104" b="1" i="0">
                <a:solidFill>
                  <a:srgbClr val="0067C0"/>
                </a:solidFill>
                <a:latin typeface="Segoe UI"/>
              </a:rPr>
              <a:t>RIGUEUR</a:t>
            </a:r>
          </a:p>
        </p:txBody>
      </p:sp>
      <p:sp>
        <p:nvSpPr>
          <p:cNvPr id="3" name="TextBox 2"/>
          <p:cNvSpPr txBox="1"/>
          <p:nvPr/>
        </p:nvSpPr>
        <p:spPr>
          <a:xfrm>
            <a:off x="640080" y="685800"/>
            <a:ext cx="10881360" cy="777240"/>
          </a:xfrm>
          <a:prstGeom prst="rect">
            <a:avLst/>
          </a:prstGeom>
          <a:noFill/>
        </p:spPr>
        <p:txBody>
          <a:bodyPr wrap="square">
            <a:spAutoFit/>
          </a:bodyPr>
          <a:lstStyle/>
          <a:p>
            <a:pPr algn="l"/>
            <a:r>
              <a:rPr sz="2944" b="1" i="0">
                <a:solidFill>
                  <a:srgbClr val="001B3D"/>
                </a:solidFill>
                <a:latin typeface="Segoe UI"/>
              </a:rPr>
              <a:t>Ce que la preuve démontre — et ce qu'elle ne démontre pas</a:t>
            </a:r>
          </a:p>
        </p:txBody>
      </p:sp>
      <p:sp>
        <p:nvSpPr>
          <p:cNvPr id="4" name="Rectangle 3"/>
          <p:cNvSpPr/>
          <p:nvPr/>
        </p:nvSpPr>
        <p:spPr>
          <a:xfrm>
            <a:off x="640080" y="1481328"/>
            <a:ext cx="10881360" cy="31750"/>
          </a:xfrm>
          <a:prstGeom prst="rect">
            <a:avLst/>
          </a:prstGeom>
          <a:solidFill>
            <a:srgbClr val="006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920240"/>
          <a:ext cx="10835640" cy="3886200"/>
        </p:xfrm>
        <a:graphic>
          <a:graphicData uri="http://schemas.openxmlformats.org/drawingml/2006/table">
            <a:tbl>
              <a:tblPr firstRow="1" bandRow="1">
                <a:tableStyleId>{5C22544A-7EE6-4342-B048-85BDC9FD1C3A}</a:tableStyleId>
              </a:tblPr>
              <a:tblGrid>
                <a:gridCol w="2743200"/>
                <a:gridCol w="3840480"/>
                <a:gridCol w="4251960"/>
              </a:tblGrid>
              <a:tr h="777240">
                <a:tc>
                  <a:txBody>
                    <a:bodyPr/>
                    <a:lstStyle/>
                    <a:p>
                      <a:r>
                        <a:rPr sz="1196" b="1">
                          <a:solidFill>
                            <a:srgbClr val="FFFFFF"/>
                          </a:solidFill>
                          <a:latin typeface="Segoe UI"/>
                        </a:rPr>
                        <a:t>Observation</a:t>
                      </a:r>
                    </a:p>
                  </a:txBody>
                  <a:tcPr anchor="ctr">
                    <a:solidFill>
                      <a:srgbClr val="001B3D"/>
                    </a:solidFill>
                  </a:tcPr>
                </a:tc>
                <a:tc>
                  <a:txBody>
                    <a:bodyPr/>
                    <a:lstStyle/>
                    <a:p>
                      <a:r>
                        <a:rPr sz="1196" b="1">
                          <a:solidFill>
                            <a:srgbClr val="FFFFFF"/>
                          </a:solidFill>
                          <a:latin typeface="Segoe UI"/>
                        </a:rPr>
                        <a:t>Ce que cela démontre</a:t>
                      </a:r>
                    </a:p>
                  </a:txBody>
                  <a:tcPr anchor="ctr">
                    <a:solidFill>
                      <a:srgbClr val="001B3D"/>
                    </a:solidFill>
                  </a:tcPr>
                </a:tc>
                <a:tc>
                  <a:txBody>
                    <a:bodyPr/>
                    <a:lstStyle/>
                    <a:p>
                      <a:r>
                        <a:rPr sz="1196" b="1">
                          <a:solidFill>
                            <a:srgbClr val="FFFFFF"/>
                          </a:solidFill>
                          <a:latin typeface="Segoe UI"/>
                        </a:rPr>
                        <a:t>Ce que cela ne démontre PAS</a:t>
                      </a:r>
                    </a:p>
                  </a:txBody>
                  <a:tcPr anchor="ctr">
                    <a:solidFill>
                      <a:srgbClr val="001B3D"/>
                    </a:solidFill>
                  </a:tcPr>
                </a:tc>
              </a:tr>
              <a:tr h="777240">
                <a:tc>
                  <a:txBody>
                    <a:bodyPr/>
                    <a:lstStyle/>
                    <a:p>
                      <a:r>
                        <a:rPr sz="1196">
                          <a:solidFill>
                            <a:srgbClr val="1A1A1A"/>
                          </a:solidFill>
                          <a:latin typeface="Segoe UI"/>
                        </a:rPr>
                        <a:t>Appels à /oauth2/v2.0/token</a:t>
                      </a:r>
                    </a:p>
                  </a:txBody>
                  <a:tcPr anchor="ctr">
                    <a:solidFill>
                      <a:srgbClr val="FFFFFF"/>
                    </a:solidFill>
                  </a:tcPr>
                </a:tc>
                <a:tc>
                  <a:txBody>
                    <a:bodyPr/>
                    <a:lstStyle/>
                    <a:p>
                      <a:r>
                        <a:rPr sz="1196">
                          <a:solidFill>
                            <a:srgbClr val="1A1A1A"/>
                          </a:solidFill>
                          <a:latin typeface="Segoe UI"/>
                        </a:rPr>
                        <a:t>Un jeton est demandé au point de terminaison standard</a:t>
                      </a:r>
                    </a:p>
                  </a:txBody>
                  <a:tcPr anchor="ctr">
                    <a:solidFill>
                      <a:srgbClr val="FFFFFF"/>
                    </a:solidFill>
                  </a:tcPr>
                </a:tc>
                <a:tc>
                  <a:txBody>
                    <a:bodyPr/>
                    <a:lstStyle/>
                    <a:p>
                      <a:r>
                        <a:rPr sz="1196">
                          <a:solidFill>
                            <a:srgbClr val="1A1A1A"/>
                          </a:solidFill>
                          <a:latin typeface="Segoe UI"/>
                        </a:rPr>
                        <a:t>Pas d'OBO. L'échange du code et le renouvellement utilisent le même point de terminaison</a:t>
                      </a:r>
                    </a:p>
                  </a:txBody>
                  <a:tcPr anchor="ctr">
                    <a:solidFill>
                      <a:srgbClr val="FFFFFF"/>
                    </a:solidFill>
                  </a:tcPr>
                </a:tc>
              </a:tr>
              <a:tr h="777240">
                <a:tc>
                  <a:txBody>
                    <a:bodyPr/>
                    <a:lstStyle/>
                    <a:p>
                      <a:r>
                        <a:rPr sz="1196">
                          <a:solidFill>
                            <a:srgbClr val="1A1A1A"/>
                          </a:solidFill>
                          <a:latin typeface="Segoe UI"/>
                        </a:rPr>
                        <a:t>État de connexion « Unbound (1008) »</a:t>
                      </a:r>
                    </a:p>
                  </a:txBody>
                  <a:tcPr anchor="ctr">
                    <a:solidFill>
                      <a:srgbClr val="F2F6FA"/>
                    </a:solidFill>
                  </a:tcPr>
                </a:tc>
                <a:tc>
                  <a:txBody>
                    <a:bodyPr/>
                    <a:lstStyle/>
                    <a:p>
                      <a:r>
                        <a:rPr sz="1196">
                          <a:solidFill>
                            <a:srgbClr val="1A1A1A"/>
                          </a:solidFill>
                          <a:latin typeface="Segoe UI"/>
                        </a:rPr>
                        <a:t>Le client n'est pas intégré au courtier de la plateforme</a:t>
                      </a:r>
                    </a:p>
                  </a:txBody>
                  <a:tcPr anchor="ctr">
                    <a:solidFill>
                      <a:srgbClr val="F2F6FA"/>
                    </a:solidFill>
                  </a:tcPr>
                </a:tc>
                <a:tc>
                  <a:txBody>
                    <a:bodyPr/>
                    <a:lstStyle/>
                    <a:p>
                      <a:r>
                        <a:rPr sz="1196">
                          <a:solidFill>
                            <a:srgbClr val="1A1A1A"/>
                          </a:solidFill>
                          <a:latin typeface="Segoe UI"/>
                        </a:rPr>
                        <a:t>Pas un rejeu de jeton. Pas un type d'octroi. Hors portée pour navigateur→Graph</a:t>
                      </a:r>
                    </a:p>
                  </a:txBody>
                  <a:tcPr anchor="ctr">
                    <a:solidFill>
                      <a:srgbClr val="F2F6FA"/>
                    </a:solidFill>
                  </a:tcPr>
                </a:tc>
              </a:tr>
              <a:tr h="777240">
                <a:tc>
                  <a:txBody>
                    <a:bodyPr/>
                    <a:lstStyle/>
                    <a:p>
                      <a:r>
                        <a:rPr sz="1196">
                          <a:solidFill>
                            <a:srgbClr val="1A1A1A"/>
                          </a:solidFill>
                          <a:latin typeface="Segoe UI"/>
                        </a:rPr>
                        <a:t>L'accès conditionnel a bloqué l'appel</a:t>
                      </a:r>
                    </a:p>
                  </a:txBody>
                  <a:tcPr anchor="ctr">
                    <a:solidFill>
                      <a:srgbClr val="FFFFFF"/>
                    </a:solidFill>
                  </a:tcPr>
                </a:tc>
                <a:tc>
                  <a:txBody>
                    <a:bodyPr/>
                    <a:lstStyle/>
                    <a:p>
                      <a:r>
                        <a:rPr sz="1196">
                          <a:solidFill>
                            <a:srgbClr val="1A1A1A"/>
                          </a:solidFill>
                          <a:latin typeface="Segoe UI"/>
                        </a:rPr>
                        <a:t>La requête n'avait aucun contexte d'appareil conforme, depuis une IP non approuvée</a:t>
                      </a:r>
                    </a:p>
                  </a:txBody>
                  <a:tcPr anchor="ctr">
                    <a:solidFill>
                      <a:srgbClr val="FFFFFF"/>
                    </a:solidFill>
                  </a:tcPr>
                </a:tc>
                <a:tc>
                  <a:txBody>
                    <a:bodyPr/>
                    <a:lstStyle/>
                    <a:p>
                      <a:r>
                        <a:rPr sz="1196">
                          <a:solidFill>
                            <a:srgbClr val="1A1A1A"/>
                          </a:solidFill>
                          <a:latin typeface="Segoe UI"/>
                        </a:rPr>
                        <a:t>Rien sur le type d'octroi utilisé — l'accès conditionnel y est indifférent</a:t>
                      </a:r>
                    </a:p>
                  </a:txBody>
                  <a:tcPr anchor="ctr">
                    <a:solidFill>
                      <a:srgbClr val="FFFFFF"/>
                    </a:solidFill>
                  </a:tcPr>
                </a:tc>
              </a:tr>
              <a:tr h="777240">
                <a:tc>
                  <a:txBody>
                    <a:bodyPr/>
                    <a:lstStyle/>
                    <a:p>
                      <a:r>
                        <a:rPr sz="1196">
                          <a:solidFill>
                            <a:srgbClr val="1A1A1A"/>
                          </a:solidFill>
                          <a:latin typeface="Segoe UI"/>
                        </a:rPr>
                        <a:t>Les trois inscriptions exportées sont « spa »</a:t>
                      </a:r>
                    </a:p>
                  </a:txBody>
                  <a:tcPr anchor="ctr">
                    <a:solidFill>
                      <a:srgbClr val="F2F6FA"/>
                    </a:solidFill>
                  </a:tcPr>
                </a:tc>
                <a:tc>
                  <a:txBody>
                    <a:bodyPr/>
                    <a:lstStyle/>
                    <a:p>
                      <a:r>
                        <a:rPr sz="1196">
                          <a:solidFill>
                            <a:srgbClr val="1A1A1A"/>
                          </a:solidFill>
                          <a:latin typeface="Segoe UI"/>
                        </a:rPr>
                        <a:t>Aucun secret, aucun certificat, aucune étendue d'API exposée</a:t>
                      </a:r>
                    </a:p>
                  </a:txBody>
                  <a:tcPr anchor="ctr">
                    <a:solidFill>
                      <a:srgbClr val="F2F6FA"/>
                    </a:solidFill>
                  </a:tcPr>
                </a:tc>
                <a:tc>
                  <a:txBody>
                    <a:bodyPr/>
                    <a:lstStyle/>
                    <a:p>
                      <a:r>
                        <a:rPr sz="1196">
                          <a:solidFill>
                            <a:srgbClr val="1A1A1A"/>
                          </a:solidFill>
                          <a:latin typeface="Segoe UI"/>
                        </a:rPr>
                        <a:t>Pas l'inventaire complet — d'autres inscriptions peuvent exister (Q8)</a:t>
                      </a:r>
                    </a:p>
                  </a:txBody>
                  <a:tcPr anchor="ctr">
                    <a:solidFill>
                      <a:srgbClr val="F2F6FA"/>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640080" y="384048"/>
            <a:ext cx="10881360" cy="320040"/>
          </a:xfrm>
          <a:prstGeom prst="rect">
            <a:avLst/>
          </a:prstGeom>
          <a:noFill/>
        </p:spPr>
        <p:txBody>
          <a:bodyPr wrap="square">
            <a:spAutoFit/>
          </a:bodyPr>
          <a:lstStyle/>
          <a:p>
            <a:pPr algn="l"/>
            <a:r>
              <a:rPr sz="1104" b="1" i="0">
                <a:solidFill>
                  <a:srgbClr val="0067C0"/>
                </a:solidFill>
                <a:latin typeface="Segoe UI"/>
              </a:rPr>
              <a:t>ÉTAPE 1 — FAITE</a:t>
            </a:r>
          </a:p>
        </p:txBody>
      </p:sp>
      <p:sp>
        <p:nvSpPr>
          <p:cNvPr id="3" name="TextBox 2"/>
          <p:cNvSpPr txBox="1"/>
          <p:nvPr/>
        </p:nvSpPr>
        <p:spPr>
          <a:xfrm>
            <a:off x="640080" y="685800"/>
            <a:ext cx="10881360" cy="777240"/>
          </a:xfrm>
          <a:prstGeom prst="rect">
            <a:avLst/>
          </a:prstGeom>
          <a:noFill/>
        </p:spPr>
        <p:txBody>
          <a:bodyPr wrap="square">
            <a:spAutoFit/>
          </a:bodyPr>
          <a:lstStyle/>
          <a:p>
            <a:pPr algn="l"/>
            <a:r>
              <a:rPr sz="2944" b="1" i="0">
                <a:solidFill>
                  <a:srgbClr val="001B3D"/>
                </a:solidFill>
                <a:latin typeface="Segoe UI"/>
              </a:rPr>
              <a:t>Nouvelle preuve : la trace du navigateur</a:t>
            </a:r>
          </a:p>
        </p:txBody>
      </p:sp>
      <p:sp>
        <p:nvSpPr>
          <p:cNvPr id="4" name="Rectangle 3"/>
          <p:cNvSpPr/>
          <p:nvPr/>
        </p:nvSpPr>
        <p:spPr>
          <a:xfrm>
            <a:off x="640080" y="1481328"/>
            <a:ext cx="10881360" cy="31750"/>
          </a:xfrm>
          <a:prstGeom prst="rect">
            <a:avLst/>
          </a:prstGeom>
          <a:solidFill>
            <a:srgbClr val="006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10789920" cy="365760"/>
          </a:xfrm>
          <a:prstGeom prst="rect">
            <a:avLst/>
          </a:prstGeom>
          <a:noFill/>
        </p:spPr>
        <p:txBody>
          <a:bodyPr wrap="square">
            <a:spAutoFit/>
          </a:bodyPr>
          <a:lstStyle/>
          <a:p>
            <a:pPr algn="l"/>
            <a:r>
              <a:rPr sz="1656" b="0" i="0">
                <a:solidFill>
                  <a:srgbClr val="565656"/>
                </a:solidFill>
                <a:latin typeface="Segoe UI"/>
              </a:rPr>
              <a:t>Un utilisateur de Desjardins a capturé un fichier HAR d'une véritable connexion à Central.</a:t>
            </a:r>
          </a:p>
        </p:txBody>
      </p:sp>
      <p:sp>
        <p:nvSpPr>
          <p:cNvPr id="6" name="Rounded Rectangle 5"/>
          <p:cNvSpPr/>
          <p:nvPr/>
        </p:nvSpPr>
        <p:spPr>
          <a:xfrm>
            <a:off x="685800" y="2331720"/>
            <a:ext cx="5257800" cy="2103120"/>
          </a:xfrm>
          <a:prstGeom prst="roundRect">
            <a:avLst/>
          </a:prstGeom>
          <a:solidFill>
            <a:srgbClr val="FFFFFF"/>
          </a:solidFill>
          <a:ln>
            <a:solidFill>
              <a:srgbClr val="E1E5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85800" y="2331720"/>
            <a:ext cx="5257800" cy="63500"/>
          </a:xfrm>
          <a:prstGeom prst="rect">
            <a:avLst/>
          </a:prstGeom>
          <a:solidFill>
            <a:srgbClr val="0A7D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532888"/>
            <a:ext cx="4800600" cy="457200"/>
          </a:xfrm>
          <a:prstGeom prst="rect">
            <a:avLst/>
          </a:prstGeom>
          <a:noFill/>
        </p:spPr>
        <p:txBody>
          <a:bodyPr wrap="square">
            <a:spAutoFit/>
          </a:bodyPr>
          <a:lstStyle/>
          <a:p>
            <a:pPr algn="l"/>
            <a:r>
              <a:rPr sz="1564" b="1" i="0">
                <a:solidFill>
                  <a:srgbClr val="0A7D28"/>
                </a:solidFill>
                <a:latin typeface="Segoe UI"/>
              </a:rPr>
              <a:t>Présent dans la trace</a:t>
            </a:r>
          </a:p>
        </p:txBody>
      </p:sp>
      <p:sp>
        <p:nvSpPr>
          <p:cNvPr id="9" name="TextBox 8"/>
          <p:cNvSpPr txBox="1"/>
          <p:nvPr/>
        </p:nvSpPr>
        <p:spPr>
          <a:xfrm>
            <a:off x="914400" y="3108960"/>
            <a:ext cx="4800600" cy="1142999"/>
          </a:xfrm>
          <a:prstGeom prst="rect">
            <a:avLst/>
          </a:prstGeom>
          <a:noFill/>
        </p:spPr>
        <p:txBody>
          <a:bodyPr wrap="square">
            <a:spAutoFit/>
          </a:bodyPr>
          <a:lstStyle/>
          <a:p>
            <a:pPr>
              <a:spcAft>
                <a:spcPts val="800"/>
              </a:spcAft>
            </a:pPr>
            <a:r>
              <a:rPr sz="1288" b="1">
                <a:solidFill>
                  <a:srgbClr val="1A1A1A"/>
                </a:solidFill>
                <a:latin typeface="Segoe UI"/>
              </a:rPr>
              <a:t>/oauth2/v2.0/authorize</a:t>
            </a:r>
          </a:p>
          <a:p>
            <a:pPr>
              <a:spcAft>
                <a:spcPts val="800"/>
              </a:spcAft>
            </a:pPr>
            <a:r>
              <a:rPr sz="1288" b="0">
                <a:solidFill>
                  <a:srgbClr val="1A1A1A"/>
                </a:solidFill>
                <a:latin typeface="Segoe UI"/>
              </a:rPr>
              <a:t>Le volet frontal s'exécute dans le navigateur de l'utilisateur, comme prévu.</a:t>
            </a:r>
          </a:p>
        </p:txBody>
      </p:sp>
      <p:sp>
        <p:nvSpPr>
          <p:cNvPr id="10" name="Rounded Rectangle 9"/>
          <p:cNvSpPr/>
          <p:nvPr/>
        </p:nvSpPr>
        <p:spPr>
          <a:xfrm>
            <a:off x="6263640" y="2331720"/>
            <a:ext cx="5257800" cy="2103120"/>
          </a:xfrm>
          <a:prstGeom prst="roundRect">
            <a:avLst/>
          </a:prstGeom>
          <a:solidFill>
            <a:srgbClr val="FFFFFF"/>
          </a:solidFill>
          <a:ln>
            <a:solidFill>
              <a:srgbClr val="E1E5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263640" y="2331720"/>
            <a:ext cx="5257800" cy="63500"/>
          </a:xfrm>
          <a:prstGeom prst="rect">
            <a:avLst/>
          </a:prstGeom>
          <a:solidFill>
            <a:srgbClr val="B00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532888"/>
            <a:ext cx="4800600" cy="457200"/>
          </a:xfrm>
          <a:prstGeom prst="rect">
            <a:avLst/>
          </a:prstGeom>
          <a:noFill/>
        </p:spPr>
        <p:txBody>
          <a:bodyPr wrap="square">
            <a:spAutoFit/>
          </a:bodyPr>
          <a:lstStyle/>
          <a:p>
            <a:pPr algn="l"/>
            <a:r>
              <a:rPr sz="1564" b="1" i="0">
                <a:solidFill>
                  <a:srgbClr val="B00020"/>
                </a:solidFill>
                <a:latin typeface="Segoe UI"/>
              </a:rPr>
              <a:t>Absent de la trace</a:t>
            </a:r>
          </a:p>
        </p:txBody>
      </p:sp>
      <p:sp>
        <p:nvSpPr>
          <p:cNvPr id="13" name="TextBox 12"/>
          <p:cNvSpPr txBox="1"/>
          <p:nvPr/>
        </p:nvSpPr>
        <p:spPr>
          <a:xfrm>
            <a:off x="6492240" y="3108960"/>
            <a:ext cx="4800600" cy="1142999"/>
          </a:xfrm>
          <a:prstGeom prst="rect">
            <a:avLst/>
          </a:prstGeom>
          <a:noFill/>
        </p:spPr>
        <p:txBody>
          <a:bodyPr wrap="square">
            <a:spAutoFit/>
          </a:bodyPr>
          <a:lstStyle/>
          <a:p>
            <a:pPr>
              <a:spcAft>
                <a:spcPts val="800"/>
              </a:spcAft>
            </a:pPr>
            <a:r>
              <a:rPr sz="1288" b="1">
                <a:solidFill>
                  <a:srgbClr val="1A1A1A"/>
                </a:solidFill>
                <a:latin typeface="Segoe UI"/>
              </a:rPr>
              <a:t>/oauth2/v2.0/token — aucune occurrence</a:t>
            </a:r>
          </a:p>
          <a:p>
            <a:pPr>
              <a:spcAft>
                <a:spcPts val="800"/>
              </a:spcAft>
            </a:pPr>
            <a:r>
              <a:rPr sz="1288" b="0">
                <a:solidFill>
                  <a:srgbClr val="1A1A1A"/>
                </a:solidFill>
                <a:latin typeface="Segoe UI"/>
              </a:rPr>
              <a:t>Le code quitte le navigateur, mais il est échangé ailleurs.</a:t>
            </a:r>
          </a:p>
        </p:txBody>
      </p:sp>
      <p:sp>
        <p:nvSpPr>
          <p:cNvPr id="14" name="TextBox 13"/>
          <p:cNvSpPr txBox="1"/>
          <p:nvPr/>
        </p:nvSpPr>
        <p:spPr>
          <a:xfrm>
            <a:off x="685800" y="4663440"/>
            <a:ext cx="10789920" cy="548640"/>
          </a:xfrm>
          <a:prstGeom prst="rect">
            <a:avLst/>
          </a:prstGeom>
          <a:noFill/>
        </p:spPr>
        <p:txBody>
          <a:bodyPr wrap="square">
            <a:spAutoFit/>
          </a:bodyPr>
          <a:lstStyle/>
          <a:p>
            <a:pPr algn="l"/>
            <a:r>
              <a:rPr sz="1748" b="1" i="0">
                <a:solidFill>
                  <a:srgbClr val="001B3D"/>
                </a:solidFill>
                <a:latin typeface="Segoe UI"/>
              </a:rPr>
              <a:t>Conclusion : l'échange se fait côté serveur. Cela corrobore le témoignage d'Olivier et écarte l'échange par navigateur pour cette capture.</a:t>
            </a:r>
          </a:p>
        </p:txBody>
      </p:sp>
      <p:sp>
        <p:nvSpPr>
          <p:cNvPr id="15" name="TextBox 14"/>
          <p:cNvSpPr txBox="1"/>
          <p:nvPr/>
        </p:nvSpPr>
        <p:spPr>
          <a:xfrm>
            <a:off x="685800" y="5257800"/>
            <a:ext cx="10789920" cy="731520"/>
          </a:xfrm>
          <a:prstGeom prst="rect">
            <a:avLst/>
          </a:prstGeom>
          <a:noFill/>
        </p:spPr>
        <p:txBody>
          <a:bodyPr wrap="square">
            <a:spAutoFit/>
          </a:bodyPr>
          <a:lstStyle/>
          <a:p>
            <a:pPr algn="l"/>
            <a:r>
              <a:rPr sz="1380" b="0" i="0">
                <a:solidFill>
                  <a:srgbClr val="565656"/>
                </a:solidFill>
                <a:latin typeface="Segoe UI"/>
              </a:rPr>
              <a:t>Conséquence : Desjardins ne peut plus observer l'en-tête Origin — il n'existe désormais que sur la requête sortante de Croesus. Réserve : un seul échantillon, un seul environnement.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640080" y="384048"/>
            <a:ext cx="10881360" cy="320040"/>
          </a:xfrm>
          <a:prstGeom prst="rect">
            <a:avLst/>
          </a:prstGeom>
          <a:noFill/>
        </p:spPr>
        <p:txBody>
          <a:bodyPr wrap="square">
            <a:spAutoFit/>
          </a:bodyPr>
          <a:lstStyle/>
          <a:p>
            <a:pPr algn="l"/>
            <a:r>
              <a:rPr sz="1104" b="1" i="0">
                <a:solidFill>
                  <a:srgbClr val="0067C0"/>
                </a:solidFill>
                <a:latin typeface="Segoe UI"/>
              </a:rPr>
              <a:t>HYPOTHÈSE À VÉRIFIER</a:t>
            </a:r>
          </a:p>
        </p:txBody>
      </p:sp>
      <p:sp>
        <p:nvSpPr>
          <p:cNvPr id="3" name="TextBox 2"/>
          <p:cNvSpPr txBox="1"/>
          <p:nvPr/>
        </p:nvSpPr>
        <p:spPr>
          <a:xfrm>
            <a:off x="640080" y="685800"/>
            <a:ext cx="10881360" cy="777240"/>
          </a:xfrm>
          <a:prstGeom prst="rect">
            <a:avLst/>
          </a:prstGeom>
          <a:noFill/>
        </p:spPr>
        <p:txBody>
          <a:bodyPr wrap="square">
            <a:spAutoFit/>
          </a:bodyPr>
          <a:lstStyle/>
          <a:p>
            <a:pPr algn="l"/>
            <a:r>
              <a:rPr sz="2944" b="1" i="0">
                <a:solidFill>
                  <a:srgbClr val="001B3D"/>
                </a:solidFill>
                <a:latin typeface="Segoe UI"/>
              </a:rPr>
              <a:t>La bifurcation que cela crée</a:t>
            </a:r>
          </a:p>
        </p:txBody>
      </p:sp>
      <p:sp>
        <p:nvSpPr>
          <p:cNvPr id="4" name="Rectangle 3"/>
          <p:cNvSpPr/>
          <p:nvPr/>
        </p:nvSpPr>
        <p:spPr>
          <a:xfrm>
            <a:off x="640080" y="1481328"/>
            <a:ext cx="10881360" cy="31750"/>
          </a:xfrm>
          <a:prstGeom prst="rect">
            <a:avLst/>
          </a:prstGeom>
          <a:solidFill>
            <a:srgbClr val="006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10789920" cy="640080"/>
          </a:xfrm>
          <a:prstGeom prst="rect">
            <a:avLst/>
          </a:prstGeom>
          <a:noFill/>
        </p:spPr>
        <p:txBody>
          <a:bodyPr wrap="square">
            <a:spAutoFit/>
          </a:bodyPr>
          <a:lstStyle/>
          <a:p>
            <a:pPr algn="l"/>
            <a:r>
              <a:rPr sz="1472" b="0" i="0">
                <a:solidFill>
                  <a:srgbClr val="565656"/>
                </a:solidFill>
                <a:latin typeface="Segoe UI"/>
              </a:rPr>
              <a:t>Microsoft Entra rejette l'échange côté serveur d'un code d'autorisation « spa » avec l'erreur AADSTS9002327. Un échange côté serveur et une inscription uniquement « spa » ne peuvent pas coexister.</a:t>
            </a:r>
          </a:p>
        </p:txBody>
      </p:sp>
      <p:sp>
        <p:nvSpPr>
          <p:cNvPr id="6" name="Rounded Rectangle 5"/>
          <p:cNvSpPr/>
          <p:nvPr/>
        </p:nvSpPr>
        <p:spPr>
          <a:xfrm>
            <a:off x="685800" y="2651760"/>
            <a:ext cx="5257800" cy="2834640"/>
          </a:xfrm>
          <a:prstGeom prst="roundRect">
            <a:avLst/>
          </a:prstGeom>
          <a:solidFill>
            <a:srgbClr val="FFFFFF"/>
          </a:solidFill>
          <a:ln>
            <a:solidFill>
              <a:srgbClr val="E1E5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85800" y="2651760"/>
            <a:ext cx="5257800" cy="63500"/>
          </a:xfrm>
          <a:prstGeom prst="rect">
            <a:avLst/>
          </a:prstGeom>
          <a:solidFill>
            <a:srgbClr val="B00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852928"/>
            <a:ext cx="4800600" cy="457200"/>
          </a:xfrm>
          <a:prstGeom prst="rect">
            <a:avLst/>
          </a:prstGeom>
          <a:noFill/>
        </p:spPr>
        <p:txBody>
          <a:bodyPr wrap="square">
            <a:spAutoFit/>
          </a:bodyPr>
          <a:lstStyle/>
          <a:p>
            <a:pPr algn="l"/>
            <a:r>
              <a:rPr sz="1564" b="1" i="0">
                <a:solidFill>
                  <a:srgbClr val="B00020"/>
                </a:solidFill>
                <a:latin typeface="Segoe UI"/>
              </a:rPr>
              <a:t>Branche A — l'échange ÉCHOUE</a:t>
            </a:r>
          </a:p>
        </p:txBody>
      </p:sp>
      <p:sp>
        <p:nvSpPr>
          <p:cNvPr id="9" name="TextBox 8"/>
          <p:cNvSpPr txBox="1"/>
          <p:nvPr/>
        </p:nvSpPr>
        <p:spPr>
          <a:xfrm>
            <a:off x="914400" y="3429000"/>
            <a:ext cx="4800600" cy="1874519"/>
          </a:xfrm>
          <a:prstGeom prst="rect">
            <a:avLst/>
          </a:prstGeom>
          <a:noFill/>
        </p:spPr>
        <p:txBody>
          <a:bodyPr wrap="square">
            <a:spAutoFit/>
          </a:bodyPr>
          <a:lstStyle/>
          <a:p>
            <a:pPr>
              <a:spcAft>
                <a:spcPts val="800"/>
              </a:spcAft>
            </a:pPr>
            <a:r>
              <a:rPr sz="1288" b="1">
                <a:solidFill>
                  <a:srgbClr val="1A1A1A"/>
                </a:solidFill>
                <a:latin typeface="Segoe UI"/>
              </a:rPr>
              <a:t>Entra retourne AADSTS9002327.</a:t>
            </a:r>
          </a:p>
          <a:p>
            <a:pPr>
              <a:spcAft>
                <a:spcPts val="800"/>
              </a:spcAft>
            </a:pPr>
            <a:r>
              <a:rPr sz="1288" b="0">
                <a:solidFill>
                  <a:srgbClr val="1A1A1A"/>
                </a:solidFill>
                <a:latin typeface="Segoe UI"/>
              </a:rPr>
              <a:t>Un client public « spa » ne peut pas servir un échange sans en-tête Origin. La forme d'inscription requise est absente.</a:t>
            </a:r>
          </a:p>
          <a:p>
            <a:pPr>
              <a:spcAft>
                <a:spcPts val="800"/>
              </a:spcAft>
            </a:pPr>
            <a:r>
              <a:rPr sz="1288" b="1">
                <a:solidFill>
                  <a:srgbClr val="1A1A1A"/>
                </a:solidFill>
                <a:latin typeface="Segoe UI"/>
              </a:rPr>
              <a:t>Correctif : Croesus inscrit un client confidentiel « web » avec un certificat.</a:t>
            </a:r>
          </a:p>
        </p:txBody>
      </p:sp>
      <p:sp>
        <p:nvSpPr>
          <p:cNvPr id="10" name="Rounded Rectangle 9"/>
          <p:cNvSpPr/>
          <p:nvPr/>
        </p:nvSpPr>
        <p:spPr>
          <a:xfrm>
            <a:off x="6263640" y="2651760"/>
            <a:ext cx="5257800" cy="2834640"/>
          </a:xfrm>
          <a:prstGeom prst="roundRect">
            <a:avLst/>
          </a:prstGeom>
          <a:solidFill>
            <a:srgbClr val="FFFFFF"/>
          </a:solidFill>
          <a:ln>
            <a:solidFill>
              <a:srgbClr val="E1E5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263640" y="2651760"/>
            <a:ext cx="5257800" cy="63500"/>
          </a:xfrm>
          <a:prstGeom prst="rect">
            <a:avLst/>
          </a:prstGeom>
          <a:solidFill>
            <a:srgbClr val="8A6D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852928"/>
            <a:ext cx="4800600" cy="457200"/>
          </a:xfrm>
          <a:prstGeom prst="rect">
            <a:avLst/>
          </a:prstGeom>
          <a:noFill/>
        </p:spPr>
        <p:txBody>
          <a:bodyPr wrap="square">
            <a:spAutoFit/>
          </a:bodyPr>
          <a:lstStyle/>
          <a:p>
            <a:pPr algn="l"/>
            <a:r>
              <a:rPr sz="1564" b="1" i="0">
                <a:solidFill>
                  <a:srgbClr val="8A6D00"/>
                </a:solidFill>
                <a:latin typeface="Segoe UI"/>
              </a:rPr>
              <a:t>Branche B — l'échange RÉUSSIT</a:t>
            </a:r>
          </a:p>
        </p:txBody>
      </p:sp>
      <p:sp>
        <p:nvSpPr>
          <p:cNvPr id="13" name="TextBox 12"/>
          <p:cNvSpPr txBox="1"/>
          <p:nvPr/>
        </p:nvSpPr>
        <p:spPr>
          <a:xfrm>
            <a:off x="6492240" y="3429000"/>
            <a:ext cx="4800600" cy="1874519"/>
          </a:xfrm>
          <a:prstGeom prst="rect">
            <a:avLst/>
          </a:prstGeom>
          <a:noFill/>
        </p:spPr>
        <p:txBody>
          <a:bodyPr wrap="square">
            <a:spAutoFit/>
          </a:bodyPr>
          <a:lstStyle/>
          <a:p>
            <a:pPr>
              <a:spcAft>
                <a:spcPts val="800"/>
              </a:spcAft>
            </a:pPr>
            <a:r>
              <a:rPr sz="1288" b="1">
                <a:solidFill>
                  <a:srgbClr val="1A1A1A"/>
                </a:solidFill>
                <a:latin typeface="Segoe UI"/>
              </a:rPr>
              <a:t>Aucun AADSTS9002327 dans les journaux.</a:t>
            </a:r>
          </a:p>
          <a:p>
            <a:pPr>
              <a:spcAft>
                <a:spcPts val="800"/>
              </a:spcAft>
            </a:pPr>
            <a:r>
              <a:rPr sz="1288" b="0">
                <a:solidFill>
                  <a:srgbClr val="1A1A1A"/>
                </a:solidFill>
                <a:latin typeface="Segoe UI"/>
              </a:rPr>
              <a:t>Le serveur dorsal s'authentifie alors avec une inscription hors des trois exports « spa » qui nous ont été remis.</a:t>
            </a:r>
          </a:p>
          <a:p>
            <a:pPr>
              <a:spcAft>
                <a:spcPts val="800"/>
              </a:spcAft>
            </a:pPr>
            <a:r>
              <a:rPr sz="1288" b="1">
                <a:solidFill>
                  <a:srgbClr val="1A1A1A"/>
                </a:solidFill>
                <a:latin typeface="Segoe UI"/>
              </a:rPr>
              <a:t>Correctif : Croesus divulgue l'inventaire complet (Q8) ; toute accommodation y est circonscrite.</a:t>
            </a:r>
          </a:p>
        </p:txBody>
      </p:sp>
      <p:sp>
        <p:nvSpPr>
          <p:cNvPr id="14" name="TextBox 13"/>
          <p:cNvSpPr txBox="1"/>
          <p:nvPr/>
        </p:nvSpPr>
        <p:spPr>
          <a:xfrm>
            <a:off x="685800" y="5669280"/>
            <a:ext cx="10789920" cy="457200"/>
          </a:xfrm>
          <a:prstGeom prst="rect">
            <a:avLst/>
          </a:prstGeom>
          <a:noFill/>
        </p:spPr>
        <p:txBody>
          <a:bodyPr wrap="square">
            <a:spAutoFit/>
          </a:bodyPr>
          <a:lstStyle/>
          <a:p>
            <a:pPr algn="l"/>
            <a:r>
              <a:rPr sz="1288" b="0" i="1">
                <a:solidFill>
                  <a:srgbClr val="565656"/>
                </a:solidFill>
                <a:latin typeface="Segoe UI"/>
              </a:rPr>
              <a:t>Réserve : si l'accès conditionnel bloque le volet en amont, les journaux affichent plutôt un code d'échec d'accès conditionnel — ce qui ne tranche pas la question.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640080" y="384048"/>
            <a:ext cx="10881360" cy="320040"/>
          </a:xfrm>
          <a:prstGeom prst="rect">
            <a:avLst/>
          </a:prstGeom>
          <a:noFill/>
        </p:spPr>
        <p:txBody>
          <a:bodyPr wrap="square">
            <a:spAutoFit/>
          </a:bodyPr>
          <a:lstStyle/>
          <a:p>
            <a:pPr algn="l"/>
            <a:r>
              <a:rPr sz="1104" b="1" i="0">
                <a:solidFill>
                  <a:srgbClr val="0067C0"/>
                </a:solidFill>
                <a:latin typeface="Segoe UI"/>
              </a:rPr>
              <a:t>CONTEXTE</a:t>
            </a:r>
          </a:p>
        </p:txBody>
      </p:sp>
      <p:sp>
        <p:nvSpPr>
          <p:cNvPr id="3" name="TextBox 2"/>
          <p:cNvSpPr txBox="1"/>
          <p:nvPr/>
        </p:nvSpPr>
        <p:spPr>
          <a:xfrm>
            <a:off x="640080" y="685800"/>
            <a:ext cx="10881360" cy="777240"/>
          </a:xfrm>
          <a:prstGeom prst="rect">
            <a:avLst/>
          </a:prstGeom>
          <a:noFill/>
        </p:spPr>
        <p:txBody>
          <a:bodyPr wrap="square">
            <a:spAutoFit/>
          </a:bodyPr>
          <a:lstStyle/>
          <a:p>
            <a:pPr algn="l"/>
            <a:r>
              <a:rPr sz="2944" b="1" i="0">
                <a:solidFill>
                  <a:srgbClr val="001B3D"/>
                </a:solidFill>
                <a:latin typeface="Segoe UI"/>
              </a:rPr>
              <a:t>Pourquoi la forme de l'inscription compte</a:t>
            </a:r>
          </a:p>
        </p:txBody>
      </p:sp>
      <p:sp>
        <p:nvSpPr>
          <p:cNvPr id="4" name="Rectangle 3"/>
          <p:cNvSpPr/>
          <p:nvPr/>
        </p:nvSpPr>
        <p:spPr>
          <a:xfrm>
            <a:off x="640080" y="1481328"/>
            <a:ext cx="10881360" cy="31750"/>
          </a:xfrm>
          <a:prstGeom prst="rect">
            <a:avLst/>
          </a:prstGeom>
          <a:solidFill>
            <a:srgbClr val="006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920240"/>
          <a:ext cx="10835640" cy="3703320"/>
        </p:xfrm>
        <a:graphic>
          <a:graphicData uri="http://schemas.openxmlformats.org/drawingml/2006/table">
            <a:tbl>
              <a:tblPr firstRow="1" bandRow="1">
                <a:tableStyleId>{5C22544A-7EE6-4342-B048-85BDC9FD1C3A}</a:tableStyleId>
              </a:tblPr>
              <a:tblGrid>
                <a:gridCol w="2468880"/>
                <a:gridCol w="4206240"/>
                <a:gridCol w="4160520"/>
              </a:tblGrid>
              <a:tr h="617220">
                <a:tc>
                  <a:txBody>
                    <a:bodyPr/>
                    <a:lstStyle/>
                    <a:p>
                      <a:r>
                        <a:rPr sz="1196" b="1">
                          <a:solidFill>
                            <a:srgbClr val="FFFFFF"/>
                          </a:solidFill>
                          <a:latin typeface="Segoe UI"/>
                        </a:rPr>
                        <a:t> </a:t>
                      </a:r>
                    </a:p>
                  </a:txBody>
                  <a:tcPr anchor="ctr">
                    <a:solidFill>
                      <a:srgbClr val="001B3D"/>
                    </a:solidFill>
                  </a:tcPr>
                </a:tc>
                <a:tc>
                  <a:txBody>
                    <a:bodyPr/>
                    <a:lstStyle/>
                    <a:p>
                      <a:r>
                        <a:rPr sz="1196" b="1">
                          <a:solidFill>
                            <a:srgbClr val="FFFFFF"/>
                          </a:solidFill>
                          <a:latin typeface="Segoe UI"/>
                        </a:rPr>
                        <a:t>spa (client public)</a:t>
                      </a:r>
                    </a:p>
                  </a:txBody>
                  <a:tcPr anchor="ctr">
                    <a:solidFill>
                      <a:srgbClr val="001B3D"/>
                    </a:solidFill>
                  </a:tcPr>
                </a:tc>
                <a:tc>
                  <a:txBody>
                    <a:bodyPr/>
                    <a:lstStyle/>
                    <a:p>
                      <a:r>
                        <a:rPr sz="1196" b="1">
                          <a:solidFill>
                            <a:srgbClr val="FFFFFF"/>
                          </a:solidFill>
                          <a:latin typeface="Segoe UI"/>
                        </a:rPr>
                        <a:t>web (client confidentiel)</a:t>
                      </a:r>
                    </a:p>
                  </a:txBody>
                  <a:tcPr anchor="ctr">
                    <a:solidFill>
                      <a:srgbClr val="001B3D"/>
                    </a:solidFill>
                  </a:tcPr>
                </a:tc>
              </a:tr>
              <a:tr h="617220">
                <a:tc>
                  <a:txBody>
                    <a:bodyPr/>
                    <a:lstStyle/>
                    <a:p>
                      <a:r>
                        <a:rPr sz="1288">
                          <a:solidFill>
                            <a:srgbClr val="1A1A1A"/>
                          </a:solidFill>
                          <a:latin typeface="Segoe UI"/>
                        </a:rPr>
                        <a:t>Justificatif</a:t>
                      </a:r>
                    </a:p>
                  </a:txBody>
                  <a:tcPr anchor="ctr">
                    <a:solidFill>
                      <a:srgbClr val="FFFFFF"/>
                    </a:solidFill>
                  </a:tcPr>
                </a:tc>
                <a:tc>
                  <a:txBody>
                    <a:bodyPr/>
                    <a:lstStyle/>
                    <a:p>
                      <a:r>
                        <a:rPr sz="1288">
                          <a:solidFill>
                            <a:srgbClr val="1A1A1A"/>
                          </a:solidFill>
                          <a:latin typeface="Segoe UI"/>
                        </a:rPr>
                        <a:t>Aucun — ni secret, ni certificat</a:t>
                      </a:r>
                    </a:p>
                  </a:txBody>
                  <a:tcPr anchor="ctr">
                    <a:solidFill>
                      <a:srgbClr val="FFFFFF"/>
                    </a:solidFill>
                  </a:tcPr>
                </a:tc>
                <a:tc>
                  <a:txBody>
                    <a:bodyPr/>
                    <a:lstStyle/>
                    <a:p>
                      <a:r>
                        <a:rPr sz="1288">
                          <a:solidFill>
                            <a:srgbClr val="1A1A1A"/>
                          </a:solidFill>
                          <a:latin typeface="Segoe UI"/>
                        </a:rPr>
                        <a:t>Secret ou certificat requis</a:t>
                      </a:r>
                    </a:p>
                  </a:txBody>
                  <a:tcPr anchor="ctr">
                    <a:solidFill>
                      <a:srgbClr val="FFFFFF"/>
                    </a:solidFill>
                  </a:tcPr>
                </a:tc>
              </a:tr>
              <a:tr h="617220">
                <a:tc>
                  <a:txBody>
                    <a:bodyPr/>
                    <a:lstStyle/>
                    <a:p>
                      <a:r>
                        <a:rPr sz="1288">
                          <a:solidFill>
                            <a:srgbClr val="1A1A1A"/>
                          </a:solidFill>
                          <a:latin typeface="Segoe UI"/>
                        </a:rPr>
                        <a:t>Échange d'un code</a:t>
                      </a:r>
                    </a:p>
                  </a:txBody>
                  <a:tcPr anchor="ctr">
                    <a:solidFill>
                      <a:srgbClr val="F2F6FA"/>
                    </a:solidFill>
                  </a:tcPr>
                </a:tc>
                <a:tc>
                  <a:txBody>
                    <a:bodyPr/>
                    <a:lstStyle/>
                    <a:p>
                      <a:r>
                        <a:rPr sz="1288">
                          <a:solidFill>
                            <a:srgbClr val="1A1A1A"/>
                          </a:solidFill>
                          <a:latin typeface="Segoe UI"/>
                        </a:rPr>
                        <a:t>Uniquement depuis une requête de navigateur cross-origin (en-tête Origin)</a:t>
                      </a:r>
                    </a:p>
                  </a:txBody>
                  <a:tcPr anchor="ctr">
                    <a:solidFill>
                      <a:srgbClr val="F2F6FA"/>
                    </a:solidFill>
                  </a:tcPr>
                </a:tc>
                <a:tc>
                  <a:txBody>
                    <a:bodyPr/>
                    <a:lstStyle/>
                    <a:p>
                      <a:r>
                        <a:rPr sz="1288">
                          <a:solidFill>
                            <a:srgbClr val="1A1A1A"/>
                          </a:solidFill>
                          <a:latin typeface="Segoe UI"/>
                        </a:rPr>
                        <a:t>Depuis un serveur, sans en-tête Origin</a:t>
                      </a:r>
                    </a:p>
                  </a:txBody>
                  <a:tcPr anchor="ctr">
                    <a:solidFill>
                      <a:srgbClr val="F2F6FA"/>
                    </a:solidFill>
                  </a:tcPr>
                </a:tc>
              </a:tr>
              <a:tr h="617220">
                <a:tc>
                  <a:txBody>
                    <a:bodyPr/>
                    <a:lstStyle/>
                    <a:p>
                      <a:r>
                        <a:rPr sz="1288">
                          <a:solidFill>
                            <a:srgbClr val="1A1A1A"/>
                          </a:solidFill>
                          <a:latin typeface="Segoe UI"/>
                        </a:rPr>
                        <a:t>Échange côté serveur</a:t>
                      </a:r>
                    </a:p>
                  </a:txBody>
                  <a:tcPr anchor="ctr">
                    <a:solidFill>
                      <a:srgbClr val="FFFFFF"/>
                    </a:solidFill>
                  </a:tcPr>
                </a:tc>
                <a:tc>
                  <a:txBody>
                    <a:bodyPr/>
                    <a:lstStyle/>
                    <a:p>
                      <a:r>
                        <a:rPr sz="1288">
                          <a:solidFill>
                            <a:srgbClr val="1A1A1A"/>
                          </a:solidFill>
                          <a:latin typeface="Segoe UI"/>
                        </a:rPr>
                        <a:t>Rejeté : AADSTS9002327</a:t>
                      </a:r>
                    </a:p>
                  </a:txBody>
                  <a:tcPr anchor="ctr">
                    <a:solidFill>
                      <a:srgbClr val="FFFFFF"/>
                    </a:solidFill>
                  </a:tcPr>
                </a:tc>
                <a:tc>
                  <a:txBody>
                    <a:bodyPr/>
                    <a:lstStyle/>
                    <a:p>
                      <a:r>
                        <a:rPr sz="1288">
                          <a:solidFill>
                            <a:srgbClr val="1A1A1A"/>
                          </a:solidFill>
                          <a:latin typeface="Segoe UI"/>
                        </a:rPr>
                        <a:t>Pris en charge</a:t>
                      </a:r>
                    </a:p>
                  </a:txBody>
                  <a:tcPr anchor="ctr">
                    <a:solidFill>
                      <a:srgbClr val="FFFFFF"/>
                    </a:solidFill>
                  </a:tcPr>
                </a:tc>
              </a:tr>
              <a:tr h="617220">
                <a:tc>
                  <a:txBody>
                    <a:bodyPr/>
                    <a:lstStyle/>
                    <a:p>
                      <a:r>
                        <a:rPr sz="1288">
                          <a:solidFill>
                            <a:srgbClr val="1A1A1A"/>
                          </a:solidFill>
                          <a:latin typeface="Segoe UI"/>
                        </a:rPr>
                        <a:t>Étendue d'API exposée</a:t>
                      </a:r>
                    </a:p>
                  </a:txBody>
                  <a:tcPr anchor="ctr">
                    <a:solidFill>
                      <a:srgbClr val="F2F6FA"/>
                    </a:solidFill>
                  </a:tcPr>
                </a:tc>
                <a:tc>
                  <a:txBody>
                    <a:bodyPr/>
                    <a:lstStyle/>
                    <a:p>
                      <a:r>
                        <a:rPr sz="1288">
                          <a:solidFill>
                            <a:srgbClr val="1A1A1A"/>
                          </a:solidFill>
                          <a:latin typeface="Segoe UI"/>
                        </a:rPr>
                        <a:t>Aucune dans les trois exports</a:t>
                      </a:r>
                    </a:p>
                  </a:txBody>
                  <a:tcPr anchor="ctr">
                    <a:solidFill>
                      <a:srgbClr val="F2F6FA"/>
                    </a:solidFill>
                  </a:tcPr>
                </a:tc>
                <a:tc>
                  <a:txBody>
                    <a:bodyPr/>
                    <a:lstStyle/>
                    <a:p>
                      <a:r>
                        <a:rPr sz="1288">
                          <a:solidFill>
                            <a:srgbClr val="1A1A1A"/>
                          </a:solidFill>
                          <a:latin typeface="Segoe UI"/>
                        </a:rPr>
                        <a:t>Requise pour On-Behalf-Of</a:t>
                      </a:r>
                    </a:p>
                  </a:txBody>
                  <a:tcPr anchor="ctr">
                    <a:solidFill>
                      <a:srgbClr val="F2F6FA"/>
                    </a:solidFill>
                  </a:tcPr>
                </a:tc>
              </a:tr>
              <a:tr h="617220">
                <a:tc>
                  <a:txBody>
                    <a:bodyPr/>
                    <a:lstStyle/>
                    <a:p>
                      <a:r>
                        <a:rPr sz="1288">
                          <a:solidFill>
                            <a:srgbClr val="1A1A1A"/>
                          </a:solidFill>
                          <a:latin typeface="Segoe UI"/>
                        </a:rPr>
                        <a:t>Ce que nous détenons</a:t>
                      </a:r>
                    </a:p>
                  </a:txBody>
                  <a:tcPr anchor="ctr">
                    <a:solidFill>
                      <a:srgbClr val="FFFFFF"/>
                    </a:solidFill>
                  </a:tcPr>
                </a:tc>
                <a:tc>
                  <a:txBody>
                    <a:bodyPr/>
                    <a:lstStyle/>
                    <a:p>
                      <a:r>
                        <a:rPr sz="1288">
                          <a:solidFill>
                            <a:srgbClr val="1A1A1A"/>
                          </a:solidFill>
                          <a:latin typeface="Segoe UI"/>
                        </a:rPr>
                        <a:t>Les trois : dev-dev, dev-prod, prod-prod</a:t>
                      </a:r>
                    </a:p>
                  </a:txBody>
                  <a:tcPr anchor="ctr">
                    <a:solidFill>
                      <a:srgbClr val="FFFFFF"/>
                    </a:solidFill>
                  </a:tcPr>
                </a:tc>
                <a:tc>
                  <a:txBody>
                    <a:bodyPr/>
                    <a:lstStyle/>
                    <a:p>
                      <a:r>
                        <a:rPr sz="1288">
                          <a:solidFill>
                            <a:srgbClr val="1A1A1A"/>
                          </a:solidFill>
                          <a:latin typeface="Segoe UI"/>
                        </a:rPr>
                        <a:t>Aucune divulguée</a:t>
                      </a:r>
                    </a:p>
                  </a:txBody>
                  <a:tcPr anchor="ctr">
                    <a:solidFill>
                      <a:srgbClr val="FFFFFF"/>
                    </a:solidFill>
                  </a:tcPr>
                </a:tc>
              </a:tr>
            </a:tbl>
          </a:graphicData>
        </a:graphic>
      </p:graphicFrame>
      <p:sp>
        <p:nvSpPr>
          <p:cNvPr id="6" name="TextBox 5"/>
          <p:cNvSpPr txBox="1"/>
          <p:nvPr/>
        </p:nvSpPr>
        <p:spPr>
          <a:xfrm>
            <a:off x="685800" y="5623560"/>
            <a:ext cx="10789920" cy="548640"/>
          </a:xfrm>
          <a:prstGeom prst="rect">
            <a:avLst/>
          </a:prstGeom>
          <a:noFill/>
        </p:spPr>
        <p:txBody>
          <a:bodyPr wrap="square">
            <a:spAutoFit/>
          </a:bodyPr>
          <a:lstStyle/>
          <a:p>
            <a:pPr algn="l"/>
            <a:r>
              <a:rPr sz="1380" b="0" i="1">
                <a:solidFill>
                  <a:srgbClr val="001B3D"/>
                </a:solidFill>
                <a:latin typeface="Segoe UI"/>
              </a:rPr>
              <a:t>« Les jetons émis pour le type de client ‘Single-Page Application’ ne peuvent être échangés que par des requêtes cross-origin. »  — AADSTS9002327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20040"/>
          </a:xfrm>
          <a:prstGeom prst="rect">
            <a:avLst/>
          </a:prstGeom>
          <a:noFill/>
        </p:spPr>
        <p:txBody>
          <a:bodyPr wrap="square">
            <a:spAutoFit/>
          </a:bodyPr>
          <a:lstStyle/>
          <a:p>
            <a:pPr algn="l"/>
            <a:r>
              <a:rPr sz="1104" b="1" i="0">
                <a:solidFill>
                  <a:srgbClr val="0067C0"/>
                </a:solidFill>
                <a:latin typeface="Segoe UI"/>
              </a:rPr>
              <a:t>CAPTURE D'ÉCRAN</a:t>
            </a:r>
          </a:p>
        </p:txBody>
      </p:sp>
      <p:sp>
        <p:nvSpPr>
          <p:cNvPr id="3" name="TextBox 2"/>
          <p:cNvSpPr txBox="1"/>
          <p:nvPr/>
        </p:nvSpPr>
        <p:spPr>
          <a:xfrm>
            <a:off x="640080" y="685800"/>
            <a:ext cx="10881360" cy="777240"/>
          </a:xfrm>
          <a:prstGeom prst="rect">
            <a:avLst/>
          </a:prstGeom>
          <a:noFill/>
        </p:spPr>
        <p:txBody>
          <a:bodyPr wrap="square">
            <a:spAutoFit/>
          </a:bodyPr>
          <a:lstStyle/>
          <a:p>
            <a:pPr algn="l"/>
            <a:r>
              <a:rPr sz="2944" b="1" i="0">
                <a:solidFill>
                  <a:srgbClr val="001B3D"/>
                </a:solidFill>
                <a:latin typeface="Segoe UI"/>
              </a:rPr>
              <a:t>La même bifurcation, en direct dans la démo</a:t>
            </a:r>
          </a:p>
        </p:txBody>
      </p:sp>
      <p:sp>
        <p:nvSpPr>
          <p:cNvPr id="4" name="Rectangle 3"/>
          <p:cNvSpPr/>
          <p:nvPr/>
        </p:nvSpPr>
        <p:spPr>
          <a:xfrm>
            <a:off x="640080" y="1481328"/>
            <a:ext cx="10881360" cy="31750"/>
          </a:xfrm>
          <a:prstGeom prst="rect">
            <a:avLst/>
          </a:prstGeom>
          <a:solidFill>
            <a:srgbClr val="006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ork-panel.png"/>
          <p:cNvPicPr>
            <a:picLocks noChangeAspect="1"/>
          </p:cNvPicPr>
          <p:nvPr/>
        </p:nvPicPr>
        <p:blipFill>
          <a:blip r:embed="rId2"/>
          <a:stretch>
            <a:fillRect/>
          </a:stretch>
        </p:blipFill>
        <p:spPr>
          <a:xfrm>
            <a:off x="3920059" y="1783080"/>
            <a:ext cx="4351577" cy="4663440"/>
          </a:xfrm>
          <a:prstGeom prst="rect">
            <a:avLst/>
          </a:prstGeom>
        </p:spPr>
      </p:pic>
      <p:sp>
        <p:nvSpPr>
          <p:cNvPr id="6" name="TextBox 5"/>
          <p:cNvSpPr txBox="1"/>
          <p:nvPr/>
        </p:nvSpPr>
        <p:spPr>
          <a:xfrm>
            <a:off x="685800" y="6419088"/>
            <a:ext cx="6400800" cy="320040"/>
          </a:xfrm>
          <a:prstGeom prst="rect">
            <a:avLst/>
          </a:prstGeom>
          <a:noFill/>
        </p:spPr>
        <p:txBody>
          <a:bodyPr wrap="square">
            <a:spAutoFit/>
          </a:bodyPr>
          <a:lstStyle/>
          <a:p>
            <a:r>
              <a:rPr sz="1196" b="1">
                <a:latin typeface="Segoe UI"/>
                <a:hlinkClick r:id="rId3"/>
              </a:rPr>
              <a:t>▶  L'ouvrir en direct — croesus-spa.azurewebsites.net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640080" y="384048"/>
            <a:ext cx="10881360" cy="320040"/>
          </a:xfrm>
          <a:prstGeom prst="rect">
            <a:avLst/>
          </a:prstGeom>
          <a:noFill/>
        </p:spPr>
        <p:txBody>
          <a:bodyPr wrap="square">
            <a:spAutoFit/>
          </a:bodyPr>
          <a:lstStyle/>
          <a:p>
            <a:pPr algn="l"/>
            <a:r>
              <a:rPr sz="1104" b="1" i="0">
                <a:solidFill>
                  <a:srgbClr val="0067C0"/>
                </a:solidFill>
                <a:latin typeface="Segoe UI"/>
              </a:rPr>
              <a:t>À QUI APPARTIENT LA PREUVE</a:t>
            </a:r>
          </a:p>
        </p:txBody>
      </p:sp>
      <p:sp>
        <p:nvSpPr>
          <p:cNvPr id="3" name="TextBox 2"/>
          <p:cNvSpPr txBox="1"/>
          <p:nvPr/>
        </p:nvSpPr>
        <p:spPr>
          <a:xfrm>
            <a:off x="640080" y="685800"/>
            <a:ext cx="10881360" cy="777240"/>
          </a:xfrm>
          <a:prstGeom prst="rect">
            <a:avLst/>
          </a:prstGeom>
          <a:noFill/>
        </p:spPr>
        <p:txBody>
          <a:bodyPr wrap="square">
            <a:spAutoFit/>
          </a:bodyPr>
          <a:lstStyle/>
          <a:p>
            <a:pPr algn="l"/>
            <a:r>
              <a:rPr sz="2944" b="1" i="0">
                <a:solidFill>
                  <a:srgbClr val="001B3D"/>
                </a:solidFill>
                <a:latin typeface="Segoe UI"/>
              </a:rPr>
              <a:t>Qui peut répondre à quoi</a:t>
            </a:r>
          </a:p>
        </p:txBody>
      </p:sp>
      <p:sp>
        <p:nvSpPr>
          <p:cNvPr id="4" name="Rectangle 3"/>
          <p:cNvSpPr/>
          <p:nvPr/>
        </p:nvSpPr>
        <p:spPr>
          <a:xfrm>
            <a:off x="640080" y="1481328"/>
            <a:ext cx="10881360" cy="31750"/>
          </a:xfrm>
          <a:prstGeom prst="rect">
            <a:avLst/>
          </a:prstGeom>
          <a:solidFill>
            <a:srgbClr val="006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920240"/>
          <a:ext cx="10835640" cy="3703320"/>
        </p:xfrm>
        <a:graphic>
          <a:graphicData uri="http://schemas.openxmlformats.org/drawingml/2006/table">
            <a:tbl>
              <a:tblPr firstRow="1" bandRow="1">
                <a:tableStyleId>{5C22544A-7EE6-4342-B048-85BDC9FD1C3A}</a:tableStyleId>
              </a:tblPr>
              <a:tblGrid>
                <a:gridCol w="4572000"/>
                <a:gridCol w="3291840"/>
                <a:gridCol w="2971800"/>
              </a:tblGrid>
              <a:tr h="617220">
                <a:tc>
                  <a:txBody>
                    <a:bodyPr/>
                    <a:lstStyle/>
                    <a:p>
                      <a:r>
                        <a:rPr sz="1196" b="1">
                          <a:solidFill>
                            <a:srgbClr val="FFFFFF"/>
                          </a:solidFill>
                          <a:latin typeface="Segoe UI"/>
                        </a:rPr>
                        <a:t>Question</a:t>
                      </a:r>
                    </a:p>
                  </a:txBody>
                  <a:tcPr anchor="ctr">
                    <a:solidFill>
                      <a:srgbClr val="001B3D"/>
                    </a:solidFill>
                  </a:tcPr>
                </a:tc>
                <a:tc>
                  <a:txBody>
                    <a:bodyPr/>
                    <a:lstStyle/>
                    <a:p>
                      <a:r>
                        <a:rPr sz="1196" b="1">
                          <a:solidFill>
                            <a:srgbClr val="FFFFFF"/>
                          </a:solidFill>
                          <a:latin typeface="Segoe UI"/>
                        </a:rPr>
                        <a:t>Qui peut répondre</a:t>
                      </a:r>
                    </a:p>
                  </a:txBody>
                  <a:tcPr anchor="ctr">
                    <a:solidFill>
                      <a:srgbClr val="001B3D"/>
                    </a:solidFill>
                  </a:tcPr>
                </a:tc>
                <a:tc>
                  <a:txBody>
                    <a:bodyPr/>
                    <a:lstStyle/>
                    <a:p>
                      <a:r>
                        <a:rPr sz="1196" b="1">
                          <a:solidFill>
                            <a:srgbClr val="FFFFFF"/>
                          </a:solidFill>
                          <a:latin typeface="Segoe UI"/>
                        </a:rPr>
                        <a:t>État</a:t>
                      </a:r>
                    </a:p>
                  </a:txBody>
                  <a:tcPr anchor="ctr">
                    <a:solidFill>
                      <a:srgbClr val="001B3D"/>
                    </a:solidFill>
                  </a:tcPr>
                </a:tc>
              </a:tr>
              <a:tr h="617220">
                <a:tc>
                  <a:txBody>
                    <a:bodyPr/>
                    <a:lstStyle/>
                    <a:p>
                      <a:r>
                        <a:rPr sz="1196">
                          <a:solidFill>
                            <a:srgbClr val="1A1A1A"/>
                          </a:solidFill>
                          <a:latin typeface="Segoe UI"/>
                        </a:rPr>
                        <a:t>En-tête Origin sur un appel /token côté navigateur</a:t>
                      </a:r>
                    </a:p>
                  </a:txBody>
                  <a:tcPr anchor="ctr">
                    <a:solidFill>
                      <a:srgbClr val="FFFFFF"/>
                    </a:solidFill>
                  </a:tcPr>
                </a:tc>
                <a:tc>
                  <a:txBody>
                    <a:bodyPr/>
                    <a:lstStyle/>
                    <a:p>
                      <a:r>
                        <a:rPr sz="1196">
                          <a:solidFill>
                            <a:srgbClr val="1A1A1A"/>
                          </a:solidFill>
                          <a:latin typeface="Segoe UI"/>
                        </a:rPr>
                        <a:t>Desjardins — outils de développement du navigateur</a:t>
                      </a:r>
                    </a:p>
                  </a:txBody>
                  <a:tcPr anchor="ctr">
                    <a:solidFill>
                      <a:srgbClr val="FFFFFF"/>
                    </a:solidFill>
                  </a:tcPr>
                </a:tc>
                <a:tc>
                  <a:txBody>
                    <a:bodyPr/>
                    <a:lstStyle/>
                    <a:p>
                      <a:r>
                        <a:rPr sz="1196">
                          <a:solidFill>
                            <a:srgbClr val="1A1A1A"/>
                          </a:solidFill>
                          <a:latin typeface="Segoe UI"/>
                        </a:rPr>
                        <a:t>Écarté — aucun /token dans le HAR</a:t>
                      </a:r>
                    </a:p>
                  </a:txBody>
                  <a:tcPr anchor="ctr">
                    <a:solidFill>
                      <a:srgbClr val="FFFFFF"/>
                    </a:solidFill>
                  </a:tcPr>
                </a:tc>
              </a:tr>
              <a:tr h="617220">
                <a:tc>
                  <a:txBody>
                    <a:bodyPr/>
                    <a:lstStyle/>
                    <a:p>
                      <a:r>
                        <a:rPr sz="1196">
                          <a:solidFill>
                            <a:srgbClr val="1A1A1A"/>
                          </a:solidFill>
                          <a:latin typeface="Segoe UI"/>
                        </a:rPr>
                        <a:t>En-tête Origin sur l'appel /token côté serveur</a:t>
                      </a:r>
                    </a:p>
                  </a:txBody>
                  <a:tcPr anchor="ctr">
                    <a:solidFill>
                      <a:srgbClr val="F2F6FA"/>
                    </a:solidFill>
                  </a:tcPr>
                </a:tc>
                <a:tc>
                  <a:txBody>
                    <a:bodyPr/>
                    <a:lstStyle/>
                    <a:p>
                      <a:r>
                        <a:rPr sz="1196">
                          <a:solidFill>
                            <a:srgbClr val="1A1A1A"/>
                          </a:solidFill>
                          <a:latin typeface="Segoe UI"/>
                        </a:rPr>
                        <a:t>Croesus seulement — sa requête sortante</a:t>
                      </a:r>
                    </a:p>
                  </a:txBody>
                  <a:tcPr anchor="ctr">
                    <a:solidFill>
                      <a:srgbClr val="F2F6FA"/>
                    </a:solidFill>
                  </a:tcPr>
                </a:tc>
                <a:tc>
                  <a:txBody>
                    <a:bodyPr/>
                    <a:lstStyle/>
                    <a:p>
                      <a:r>
                        <a:rPr sz="1196">
                          <a:solidFill>
                            <a:srgbClr val="1A1A1A"/>
                          </a:solidFill>
                          <a:latin typeface="Segoe UI"/>
                        </a:rPr>
                        <a:t>Ouvert — Q7</a:t>
                      </a:r>
                    </a:p>
                  </a:txBody>
                  <a:tcPr anchor="ctr">
                    <a:solidFill>
                      <a:srgbClr val="F2F6FA"/>
                    </a:solidFill>
                  </a:tcPr>
                </a:tc>
              </a:tr>
              <a:tr h="617220">
                <a:tc>
                  <a:txBody>
                    <a:bodyPr/>
                    <a:lstStyle/>
                    <a:p>
                      <a:r>
                        <a:rPr sz="1196">
                          <a:solidFill>
                            <a:srgbClr val="1A1A1A"/>
                          </a:solidFill>
                          <a:latin typeface="Segoe UI"/>
                        </a:rPr>
                        <a:t>Le second volet a-t-il réussi ou échoué avec AADSTS9002327 ?</a:t>
                      </a:r>
                    </a:p>
                  </a:txBody>
                  <a:tcPr anchor="ctr">
                    <a:solidFill>
                      <a:srgbClr val="FFFFFF"/>
                    </a:solidFill>
                  </a:tcPr>
                </a:tc>
                <a:tc>
                  <a:txBody>
                    <a:bodyPr/>
                    <a:lstStyle/>
                    <a:p>
                      <a:r>
                        <a:rPr sz="1196">
                          <a:solidFill>
                            <a:srgbClr val="1A1A1A"/>
                          </a:solidFill>
                          <a:latin typeface="Segoe UI"/>
                        </a:rPr>
                        <a:t>Desjardins — ses propres journaux de connexion Entra</a:t>
                      </a:r>
                    </a:p>
                  </a:txBody>
                  <a:tcPr anchor="ctr">
                    <a:solidFill>
                      <a:srgbClr val="FFFFFF"/>
                    </a:solidFill>
                  </a:tcPr>
                </a:tc>
                <a:tc>
                  <a:txBody>
                    <a:bodyPr/>
                    <a:lstStyle/>
                    <a:p>
                      <a:r>
                        <a:rPr sz="1196">
                          <a:solidFill>
                            <a:srgbClr val="1A1A1A"/>
                          </a:solidFill>
                          <a:latin typeface="Segoe UI"/>
                        </a:rPr>
                        <a:t>En cours</a:t>
                      </a:r>
                    </a:p>
                  </a:txBody>
                  <a:tcPr anchor="ctr">
                    <a:solidFill>
                      <a:srgbClr val="FFFFFF"/>
                    </a:solidFill>
                  </a:tcPr>
                </a:tc>
              </a:tr>
              <a:tr h="617220">
                <a:tc>
                  <a:txBody>
                    <a:bodyPr/>
                    <a:lstStyle/>
                    <a:p>
                      <a:r>
                        <a:rPr sz="1196">
                          <a:solidFill>
                            <a:srgbClr val="1A1A1A"/>
                          </a:solidFill>
                          <a:latin typeface="Segoe UI"/>
                        </a:rPr>
                        <a:t>Inventaire complet des inscriptions et principaux de service</a:t>
                      </a:r>
                    </a:p>
                  </a:txBody>
                  <a:tcPr anchor="ctr">
                    <a:solidFill>
                      <a:srgbClr val="F2F6FA"/>
                    </a:solidFill>
                  </a:tcPr>
                </a:tc>
                <a:tc>
                  <a:txBody>
                    <a:bodyPr/>
                    <a:lstStyle/>
                    <a:p>
                      <a:r>
                        <a:rPr sz="1196">
                          <a:solidFill>
                            <a:srgbClr val="1A1A1A"/>
                          </a:solidFill>
                          <a:latin typeface="Segoe UI"/>
                        </a:rPr>
                        <a:t>Croesus</a:t>
                      </a:r>
                    </a:p>
                  </a:txBody>
                  <a:tcPr anchor="ctr">
                    <a:solidFill>
                      <a:srgbClr val="F2F6FA"/>
                    </a:solidFill>
                  </a:tcPr>
                </a:tc>
                <a:tc>
                  <a:txBody>
                    <a:bodyPr/>
                    <a:lstStyle/>
                    <a:p>
                      <a:r>
                        <a:rPr sz="1196">
                          <a:solidFill>
                            <a:srgbClr val="1A1A1A"/>
                          </a:solidFill>
                          <a:latin typeface="Segoe UI"/>
                        </a:rPr>
                        <a:t>Ouvert — Q8</a:t>
                      </a:r>
                    </a:p>
                  </a:txBody>
                  <a:tcPr anchor="ctr">
                    <a:solidFill>
                      <a:srgbClr val="F2F6FA"/>
                    </a:solidFill>
                  </a:tcPr>
                </a:tc>
              </a:tr>
              <a:tr h="617220">
                <a:tc>
                  <a:txBody>
                    <a:bodyPr/>
                    <a:lstStyle/>
                    <a:p>
                      <a:r>
                        <a:rPr sz="1196">
                          <a:solidFill>
                            <a:srgbClr val="1A1A1A"/>
                          </a:solidFill>
                          <a:latin typeface="Segoe UI"/>
                        </a:rPr>
                        <a:t>Plages d'IP de sortie AWS, définition du flux prévu</a:t>
                      </a:r>
                    </a:p>
                  </a:txBody>
                  <a:tcPr anchor="ctr">
                    <a:solidFill>
                      <a:srgbClr val="FFFFFF"/>
                    </a:solidFill>
                  </a:tcPr>
                </a:tc>
                <a:tc>
                  <a:txBody>
                    <a:bodyPr/>
                    <a:lstStyle/>
                    <a:p>
                      <a:r>
                        <a:rPr sz="1196">
                          <a:solidFill>
                            <a:srgbClr val="1A1A1A"/>
                          </a:solidFill>
                          <a:latin typeface="Segoe UI"/>
                        </a:rPr>
                        <a:t>Croesus</a:t>
                      </a:r>
                    </a:p>
                  </a:txBody>
                  <a:tcPr anchor="ctr">
                    <a:solidFill>
                      <a:srgbClr val="FFFFFF"/>
                    </a:solidFill>
                  </a:tcPr>
                </a:tc>
                <a:tc>
                  <a:txBody>
                    <a:bodyPr/>
                    <a:lstStyle/>
                    <a:p>
                      <a:r>
                        <a:rPr sz="1196">
                          <a:solidFill>
                            <a:srgbClr val="1A1A1A"/>
                          </a:solidFill>
                          <a:latin typeface="Segoe UI"/>
                        </a:rPr>
                        <a:t>Ouvert — Q4, Q1</a:t>
                      </a:r>
                    </a:p>
                  </a:txBody>
                  <a:tcPr anchor="ctr">
                    <a:solidFill>
                      <a:srgbClr val="FFFFFF"/>
                    </a:solidFill>
                  </a:tcPr>
                </a:tc>
              </a:tr>
            </a:tbl>
          </a:graphicData>
        </a:graphic>
      </p:graphicFrame>
      <p:sp>
        <p:nvSpPr>
          <p:cNvPr id="6" name="TextBox 5"/>
          <p:cNvSpPr txBox="1"/>
          <p:nvPr/>
        </p:nvSpPr>
        <p:spPr>
          <a:xfrm>
            <a:off x="685800" y="5715000"/>
            <a:ext cx="8229600" cy="365760"/>
          </a:xfrm>
          <a:prstGeom prst="rect">
            <a:avLst/>
          </a:prstGeom>
          <a:noFill/>
        </p:spPr>
        <p:txBody>
          <a:bodyPr wrap="square">
            <a:spAutoFit/>
          </a:bodyPr>
          <a:lstStyle/>
          <a:p>
            <a:r>
              <a:rPr sz="1288" b="1">
                <a:latin typeface="Segoe UI"/>
                <a:hlinkClick r:id="rId2"/>
              </a:rPr>
              <a:t>Détails : README — qui peut capturer l'en-tête Origin de /token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640080" y="384048"/>
            <a:ext cx="10881360" cy="320040"/>
          </a:xfrm>
          <a:prstGeom prst="rect">
            <a:avLst/>
          </a:prstGeom>
          <a:noFill/>
        </p:spPr>
        <p:txBody>
          <a:bodyPr wrap="square">
            <a:spAutoFit/>
          </a:bodyPr>
          <a:lstStyle/>
          <a:p>
            <a:pPr algn="l"/>
            <a:r>
              <a:rPr sz="1104" b="1" i="0">
                <a:solidFill>
                  <a:srgbClr val="0067C0"/>
                </a:solidFill>
                <a:latin typeface="Segoe UI"/>
              </a:rPr>
              <a:t>CE QUE NOUS DEMANDONS À CROESUS</a:t>
            </a:r>
          </a:p>
        </p:txBody>
      </p:sp>
      <p:sp>
        <p:nvSpPr>
          <p:cNvPr id="3" name="TextBox 2"/>
          <p:cNvSpPr txBox="1"/>
          <p:nvPr/>
        </p:nvSpPr>
        <p:spPr>
          <a:xfrm>
            <a:off x="640080" y="685800"/>
            <a:ext cx="10881360" cy="777240"/>
          </a:xfrm>
          <a:prstGeom prst="rect">
            <a:avLst/>
          </a:prstGeom>
          <a:noFill/>
        </p:spPr>
        <p:txBody>
          <a:bodyPr wrap="square">
            <a:spAutoFit/>
          </a:bodyPr>
          <a:lstStyle/>
          <a:p>
            <a:pPr algn="l"/>
            <a:r>
              <a:rPr sz="2944" b="1" i="0">
                <a:solidFill>
                  <a:srgbClr val="001B3D"/>
                </a:solidFill>
                <a:latin typeface="Segoe UI"/>
              </a:rPr>
              <a:t>Les demandes : Q7 et Q8</a:t>
            </a:r>
          </a:p>
        </p:txBody>
      </p:sp>
      <p:sp>
        <p:nvSpPr>
          <p:cNvPr id="4" name="Rectangle 3"/>
          <p:cNvSpPr/>
          <p:nvPr/>
        </p:nvSpPr>
        <p:spPr>
          <a:xfrm>
            <a:off x="640080" y="1481328"/>
            <a:ext cx="10881360" cy="31750"/>
          </a:xfrm>
          <a:prstGeom prst="rect">
            <a:avLst/>
          </a:prstGeom>
          <a:solidFill>
            <a:srgbClr val="006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85800" y="1874519"/>
            <a:ext cx="5257800" cy="3108960"/>
          </a:xfrm>
          <a:prstGeom prst="roundRect">
            <a:avLst/>
          </a:prstGeom>
          <a:solidFill>
            <a:srgbClr val="FFFFFF"/>
          </a:solidFill>
          <a:ln>
            <a:solidFill>
              <a:srgbClr val="E1E5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85800" y="1874519"/>
            <a:ext cx="5257800" cy="63500"/>
          </a:xfrm>
          <a:prstGeom prst="rect">
            <a:avLst/>
          </a:prstGeom>
          <a:solidFill>
            <a:srgbClr val="006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075688"/>
            <a:ext cx="4800600" cy="457200"/>
          </a:xfrm>
          <a:prstGeom prst="rect">
            <a:avLst/>
          </a:prstGeom>
          <a:noFill/>
        </p:spPr>
        <p:txBody>
          <a:bodyPr wrap="square">
            <a:spAutoFit/>
          </a:bodyPr>
          <a:lstStyle/>
          <a:p>
            <a:pPr algn="l"/>
            <a:r>
              <a:rPr sz="1564" b="1" i="0">
                <a:solidFill>
                  <a:srgbClr val="0067C0"/>
                </a:solidFill>
                <a:latin typeface="Segoe UI"/>
              </a:rPr>
              <a:t>Q7 — une capture /token caviardée</a:t>
            </a:r>
          </a:p>
        </p:txBody>
      </p:sp>
      <p:sp>
        <p:nvSpPr>
          <p:cNvPr id="8" name="TextBox 7"/>
          <p:cNvSpPr txBox="1"/>
          <p:nvPr/>
        </p:nvSpPr>
        <p:spPr>
          <a:xfrm>
            <a:off x="914400" y="2651760"/>
            <a:ext cx="4800600" cy="2148839"/>
          </a:xfrm>
          <a:prstGeom prst="rect">
            <a:avLst/>
          </a:prstGeom>
          <a:noFill/>
        </p:spPr>
        <p:txBody>
          <a:bodyPr wrap="square">
            <a:spAutoFit/>
          </a:bodyPr>
          <a:lstStyle/>
          <a:p>
            <a:pPr>
              <a:spcAft>
                <a:spcPts val="800"/>
              </a:spcAft>
            </a:pPr>
            <a:r>
              <a:rPr sz="1288" b="1">
                <a:solidFill>
                  <a:srgbClr val="1A1A1A"/>
                </a:solidFill>
                <a:latin typeface="Segoe UI"/>
              </a:rPr>
              <a:t>Pour une transaction réussie et une transaction en échec :</a:t>
            </a:r>
          </a:p>
          <a:p>
            <a:pPr>
              <a:spcAft>
                <a:spcPts val="800"/>
              </a:spcAft>
            </a:pPr>
            <a:r>
              <a:rPr sz="1288" b="0">
                <a:solidFill>
                  <a:srgbClr val="1A1A1A"/>
                </a:solidFill>
                <a:latin typeface="Segoe UI"/>
              </a:rPr>
              <a:t>Un en-tête Origin est-il présent ?  •  grant_type  •  client_id  •  URI de redirection  •  méthode d'authentification du client</a:t>
            </a:r>
          </a:p>
          <a:p>
            <a:pPr>
              <a:spcAft>
                <a:spcPts val="800"/>
              </a:spcAft>
            </a:pPr>
            <a:r>
              <a:rPr sz="1288" b="1">
                <a:solidFill>
                  <a:srgbClr val="1A1A1A"/>
                </a:solidFill>
                <a:latin typeface="Segoe UI"/>
              </a:rPr>
              <a:t>Indicateurs de présence ou empreintes SHA-256 uniquement. Jamais de codes, jetons, secrets ou assertions bruts.</a:t>
            </a:r>
          </a:p>
        </p:txBody>
      </p:sp>
      <p:sp>
        <p:nvSpPr>
          <p:cNvPr id="9" name="Rounded Rectangle 8"/>
          <p:cNvSpPr/>
          <p:nvPr/>
        </p:nvSpPr>
        <p:spPr>
          <a:xfrm>
            <a:off x="6263640" y="1874519"/>
            <a:ext cx="5257800" cy="3108960"/>
          </a:xfrm>
          <a:prstGeom prst="roundRect">
            <a:avLst/>
          </a:prstGeom>
          <a:solidFill>
            <a:srgbClr val="FFFFFF"/>
          </a:solidFill>
          <a:ln>
            <a:solidFill>
              <a:srgbClr val="E1E5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263640" y="1874519"/>
            <a:ext cx="5257800" cy="63500"/>
          </a:xfrm>
          <a:prstGeom prst="rect">
            <a:avLst/>
          </a:prstGeom>
          <a:solidFill>
            <a:srgbClr val="006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2075688"/>
            <a:ext cx="4800600" cy="457200"/>
          </a:xfrm>
          <a:prstGeom prst="rect">
            <a:avLst/>
          </a:prstGeom>
          <a:noFill/>
        </p:spPr>
        <p:txBody>
          <a:bodyPr wrap="square">
            <a:spAutoFit/>
          </a:bodyPr>
          <a:lstStyle/>
          <a:p>
            <a:pPr algn="l"/>
            <a:r>
              <a:rPr sz="1564" b="1" i="0">
                <a:solidFill>
                  <a:srgbClr val="0067C0"/>
                </a:solidFill>
                <a:latin typeface="Segoe UI"/>
              </a:rPr>
              <a:t>Q8 — inventaire complet des inscriptions</a:t>
            </a:r>
          </a:p>
        </p:txBody>
      </p:sp>
      <p:sp>
        <p:nvSpPr>
          <p:cNvPr id="12" name="TextBox 11"/>
          <p:cNvSpPr txBox="1"/>
          <p:nvPr/>
        </p:nvSpPr>
        <p:spPr>
          <a:xfrm>
            <a:off x="6492240" y="2651760"/>
            <a:ext cx="4800600" cy="2148839"/>
          </a:xfrm>
          <a:prstGeom prst="rect">
            <a:avLst/>
          </a:prstGeom>
          <a:noFill/>
        </p:spPr>
        <p:txBody>
          <a:bodyPr wrap="square">
            <a:spAutoFit/>
          </a:bodyPr>
          <a:lstStyle/>
          <a:p>
            <a:pPr>
              <a:spcAft>
                <a:spcPts val="800"/>
              </a:spcAft>
            </a:pPr>
            <a:r>
              <a:rPr sz="1288" b="1">
                <a:solidFill>
                  <a:srgbClr val="1A1A1A"/>
                </a:solidFill>
                <a:latin typeface="Segoe UI"/>
              </a:rPr>
              <a:t>Chaque inscription d'application et principal de service utilisé par GPD Central, tous environnements confondus.</a:t>
            </a:r>
          </a:p>
          <a:p>
            <a:pPr>
              <a:spcAft>
                <a:spcPts val="800"/>
              </a:spcAft>
            </a:pPr>
            <a:r>
              <a:rPr sz="1288" b="0">
                <a:solidFill>
                  <a:srgbClr val="1A1A1A"/>
                </a:solidFill>
                <a:latin typeface="Segoe UI"/>
              </a:rPr>
              <a:t>Y compris toute inscription confidentielle web/API absente des trois exports « spa » que nous détenons.</a:t>
            </a:r>
          </a:p>
          <a:p>
            <a:pPr>
              <a:spcAft>
                <a:spcPts val="800"/>
              </a:spcAft>
            </a:pPr>
            <a:r>
              <a:rPr sz="1288" b="1">
                <a:solidFill>
                  <a:srgbClr val="1A1A1A"/>
                </a:solidFill>
                <a:latin typeface="Segoe UI"/>
              </a:rPr>
              <a:t>Promue au même rang de priorité par la découverte côté serveur.</a:t>
            </a:r>
          </a:p>
        </p:txBody>
      </p:sp>
      <p:sp>
        <p:nvSpPr>
          <p:cNvPr id="13" name="TextBox 12"/>
          <p:cNvSpPr txBox="1"/>
          <p:nvPr/>
        </p:nvSpPr>
        <p:spPr>
          <a:xfrm>
            <a:off x="685800" y="5166360"/>
            <a:ext cx="10789920" cy="457200"/>
          </a:xfrm>
          <a:prstGeom prst="rect">
            <a:avLst/>
          </a:prstGeom>
          <a:noFill/>
        </p:spPr>
        <p:txBody>
          <a:bodyPr wrap="square">
            <a:spAutoFit/>
          </a:bodyPr>
          <a:lstStyle/>
          <a:p>
            <a:pPr algn="l"/>
            <a:r>
              <a:rPr sz="1380" b="0" i="0">
                <a:solidFill>
                  <a:srgbClr val="565656"/>
                </a:solidFill>
                <a:latin typeface="Segoe UI"/>
              </a:rPr>
              <a:t>Également ouvertes : Q1 flux prévu  •  Q4 plages de sortie AWS  •  Q5 conformité d'appareil inter-locataires  •  Q6 compatibilité avec la liaison de jeton  •  Q9 parité Central / Conseiller</a:t>
            </a:r>
          </a:p>
        </p:txBody>
      </p:sp>
      <p:sp>
        <p:nvSpPr>
          <p:cNvPr id="14" name="TextBox 13"/>
          <p:cNvSpPr txBox="1"/>
          <p:nvPr/>
        </p:nvSpPr>
        <p:spPr>
          <a:xfrm>
            <a:off x="685800" y="5715000"/>
            <a:ext cx="8229600" cy="411480"/>
          </a:xfrm>
          <a:prstGeom prst="rect">
            <a:avLst/>
          </a:prstGeom>
          <a:noFill/>
        </p:spPr>
        <p:txBody>
          <a:bodyPr wrap="square">
            <a:spAutoFit/>
          </a:bodyPr>
          <a:lstStyle/>
          <a:p>
            <a:r>
              <a:rPr sz="1564" b="1">
                <a:latin typeface="Segoe UI"/>
                <a:hlinkClick r:id="rId2"/>
              </a:rPr>
              <a:t>▶  Liste complète des questions Q1–Q9 sur GitHub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640080" y="384048"/>
            <a:ext cx="10881360" cy="320040"/>
          </a:xfrm>
          <a:prstGeom prst="rect">
            <a:avLst/>
          </a:prstGeom>
          <a:noFill/>
        </p:spPr>
        <p:txBody>
          <a:bodyPr wrap="square">
            <a:spAutoFit/>
          </a:bodyPr>
          <a:lstStyle/>
          <a:p>
            <a:pPr algn="l"/>
            <a:r>
              <a:rPr sz="1104" b="1" i="0">
                <a:solidFill>
                  <a:srgbClr val="0067C0"/>
                </a:solidFill>
                <a:latin typeface="Segoe UI"/>
              </a:rPr>
              <a:t>UNE FOIS LA BIFURCATION RÉGLÉE</a:t>
            </a:r>
          </a:p>
        </p:txBody>
      </p:sp>
      <p:sp>
        <p:nvSpPr>
          <p:cNvPr id="3" name="TextBox 2"/>
          <p:cNvSpPr txBox="1"/>
          <p:nvPr/>
        </p:nvSpPr>
        <p:spPr>
          <a:xfrm>
            <a:off x="640080" y="685800"/>
            <a:ext cx="10881360" cy="777240"/>
          </a:xfrm>
          <a:prstGeom prst="rect">
            <a:avLst/>
          </a:prstGeom>
          <a:noFill/>
        </p:spPr>
        <p:txBody>
          <a:bodyPr wrap="square">
            <a:spAutoFit/>
          </a:bodyPr>
          <a:lstStyle/>
          <a:p>
            <a:pPr algn="l"/>
            <a:r>
              <a:rPr sz="2944" b="1" i="0">
                <a:solidFill>
                  <a:srgbClr val="001B3D"/>
                </a:solidFill>
                <a:latin typeface="Segoe UI"/>
              </a:rPr>
              <a:t>Échelle de remédiation</a:t>
            </a:r>
          </a:p>
        </p:txBody>
      </p:sp>
      <p:sp>
        <p:nvSpPr>
          <p:cNvPr id="4" name="Rectangle 3"/>
          <p:cNvSpPr/>
          <p:nvPr/>
        </p:nvSpPr>
        <p:spPr>
          <a:xfrm>
            <a:off x="640080" y="1481328"/>
            <a:ext cx="10881360" cy="31750"/>
          </a:xfrm>
          <a:prstGeom prst="rect">
            <a:avLst/>
          </a:prstGeom>
          <a:solidFill>
            <a:srgbClr val="006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20240"/>
            <a:ext cx="10789920" cy="4206240"/>
          </a:xfrm>
          <a:prstGeom prst="rect">
            <a:avLst/>
          </a:prstGeom>
          <a:noFill/>
        </p:spPr>
        <p:txBody>
          <a:bodyPr wrap="square">
            <a:spAutoFit/>
          </a:bodyPr>
          <a:lstStyle/>
          <a:p>
            <a:pPr>
              <a:spcAft>
                <a:spcPts val="1288"/>
              </a:spcAft>
            </a:pPr>
            <a:r>
              <a:rPr sz="1564">
                <a:solidFill>
                  <a:srgbClr val="0067C0"/>
                </a:solidFill>
                <a:latin typeface="Segoe UI"/>
              </a:rPr>
              <a:t>▪  </a:t>
            </a:r>
            <a:r>
              <a:rPr sz="1564" b="1">
                <a:solidFill>
                  <a:srgbClr val="1A1A1A"/>
                </a:solidFill>
                <a:latin typeface="Segoe UI"/>
              </a:rPr>
              <a:t>Établir le type d'octroi d'abord.</a:t>
            </a:r>
            <a:r>
              <a:rPr sz="1564" b="0">
                <a:solidFill>
                  <a:srgbClr val="1A1A1A"/>
                </a:solidFill>
                <a:latin typeface="Segoe UI"/>
              </a:rPr>
              <a:t> Aucun changement d'accès conditionnel, aucune liste d'autorisation d'IP AWS et aucune obligation d'OBO tant que l'octroi n'est pas connu.</a:t>
            </a:r>
          </a:p>
          <a:p>
            <a:pPr>
              <a:spcAft>
                <a:spcPts val="1288"/>
              </a:spcAft>
            </a:pPr>
            <a:r>
              <a:rPr sz="1564">
                <a:solidFill>
                  <a:srgbClr val="0067C0"/>
                </a:solidFill>
                <a:latin typeface="Segoe UI"/>
              </a:rPr>
              <a:t>▪  </a:t>
            </a:r>
            <a:r>
              <a:rPr sz="1564" b="1">
                <a:solidFill>
                  <a:srgbClr val="1A1A1A"/>
                </a:solidFill>
                <a:latin typeface="Segoe UI"/>
              </a:rPr>
              <a:t>Branche A → inscrire un client confidentiel « web ».</a:t>
            </a:r>
            <a:r>
              <a:rPr sz="1564" b="0">
                <a:solidFill>
                  <a:srgbClr val="1A1A1A"/>
                </a:solidFill>
                <a:latin typeface="Segoe UI"/>
              </a:rPr>
              <a:t> Un certificat du côté de Croesus. Le plus petit changement possible ; aucun changement de politique chez Desjardins.</a:t>
            </a:r>
          </a:p>
          <a:p>
            <a:pPr>
              <a:spcAft>
                <a:spcPts val="1288"/>
              </a:spcAft>
            </a:pPr>
            <a:r>
              <a:rPr sz="1564">
                <a:solidFill>
                  <a:srgbClr val="0067C0"/>
                </a:solidFill>
                <a:latin typeface="Segoe UI"/>
              </a:rPr>
              <a:t>▪  </a:t>
            </a:r>
            <a:r>
              <a:rPr sz="1564" b="1">
                <a:solidFill>
                  <a:srgbClr val="1A1A1A"/>
                </a:solidFill>
                <a:latin typeface="Segoe UI"/>
              </a:rPr>
              <a:t>Branche B → circonscrire à l'inscription divulguée.</a:t>
            </a:r>
            <a:r>
              <a:rPr sz="1564" b="0">
                <a:solidFill>
                  <a:srgbClr val="1A1A1A"/>
                </a:solidFill>
                <a:latin typeface="Segoe UI"/>
              </a:rPr>
              <a:t> Appliquer toute accommodation à ce principal de service précis plutôt qu'à une large plage d'IP.</a:t>
            </a:r>
          </a:p>
          <a:p>
            <a:pPr>
              <a:spcAft>
                <a:spcPts val="1288"/>
              </a:spcAft>
            </a:pPr>
            <a:r>
              <a:rPr sz="1564">
                <a:solidFill>
                  <a:srgbClr val="0067C0"/>
                </a:solidFill>
                <a:latin typeface="Segoe UI"/>
              </a:rPr>
              <a:t>▪  </a:t>
            </a:r>
            <a:r>
              <a:rPr sz="1564" b="1">
                <a:solidFill>
                  <a:srgbClr val="1A1A1A"/>
                </a:solidFill>
                <a:latin typeface="Segoe UI"/>
              </a:rPr>
              <a:t>Écarter la confiance d'appareil comme levier.</a:t>
            </a:r>
            <a:r>
              <a:rPr sz="1564" b="0">
                <a:solidFill>
                  <a:srgbClr val="1A1A1A"/>
                </a:solidFill>
                <a:latin typeface="Segoe UI"/>
              </a:rPr>
              <a:t> « Approuver les appareils conformes » entre locataires ne s'applique qu'à une connexion d'invité B2B, et le volet bloqué est un appel côté serveur sans aucun contexte d'appareil.</a:t>
            </a:r>
          </a:p>
          <a:p>
            <a:pPr>
              <a:spcAft>
                <a:spcPts val="1288"/>
              </a:spcAft>
            </a:pPr>
            <a:r>
              <a:rPr sz="1564">
                <a:solidFill>
                  <a:srgbClr val="0067C0"/>
                </a:solidFill>
                <a:latin typeface="Segoe UI"/>
              </a:rPr>
              <a:t>▪  </a:t>
            </a:r>
            <a:r>
              <a:rPr sz="1564" b="1">
                <a:solidFill>
                  <a:srgbClr val="1A1A1A"/>
                </a:solidFill>
                <a:latin typeface="Segoe UI"/>
              </a:rPr>
              <a:t>On-Behalf-Of est une option, pas une obligation.</a:t>
            </a:r>
            <a:r>
              <a:rPr sz="1564" b="0">
                <a:solidFill>
                  <a:srgbClr val="1A1A1A"/>
                </a:solidFill>
                <a:latin typeface="Segoe UI"/>
              </a:rPr>
              <a:t> Cela ne s'applique que si un véritable intermédiaire confidentiel est démontré — ce qui exige une étendue d'API exposée et un justificatif.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640080" y="384048"/>
            <a:ext cx="10881360" cy="320040"/>
          </a:xfrm>
          <a:prstGeom prst="rect">
            <a:avLst/>
          </a:prstGeom>
          <a:noFill/>
        </p:spPr>
        <p:txBody>
          <a:bodyPr wrap="square">
            <a:spAutoFit/>
          </a:bodyPr>
          <a:lstStyle/>
          <a:p>
            <a:pPr algn="l"/>
            <a:r>
              <a:rPr sz="1104" b="1" i="0">
                <a:solidFill>
                  <a:srgbClr val="0067C0"/>
                </a:solidFill>
                <a:latin typeface="Segoe UI"/>
              </a:rPr>
              <a:t>IMPLÉMENTATION DE RÉFÉRENCE</a:t>
            </a:r>
          </a:p>
        </p:txBody>
      </p:sp>
      <p:sp>
        <p:nvSpPr>
          <p:cNvPr id="3" name="TextBox 2"/>
          <p:cNvSpPr txBox="1"/>
          <p:nvPr/>
        </p:nvSpPr>
        <p:spPr>
          <a:xfrm>
            <a:off x="640080" y="685800"/>
            <a:ext cx="10881360" cy="777240"/>
          </a:xfrm>
          <a:prstGeom prst="rect">
            <a:avLst/>
          </a:prstGeom>
          <a:noFill/>
        </p:spPr>
        <p:txBody>
          <a:bodyPr wrap="square">
            <a:spAutoFit/>
          </a:bodyPr>
          <a:lstStyle/>
          <a:p>
            <a:pPr algn="l"/>
            <a:r>
              <a:rPr sz="2944" b="1" i="0">
                <a:solidFill>
                  <a:srgbClr val="001B3D"/>
                </a:solidFill>
                <a:latin typeface="Segoe UI"/>
              </a:rPr>
              <a:t>La démo fonctionnelle</a:t>
            </a:r>
          </a:p>
        </p:txBody>
      </p:sp>
      <p:sp>
        <p:nvSpPr>
          <p:cNvPr id="4" name="Rectangle 3"/>
          <p:cNvSpPr/>
          <p:nvPr/>
        </p:nvSpPr>
        <p:spPr>
          <a:xfrm>
            <a:off x="640080" y="1481328"/>
            <a:ext cx="10881360" cy="31750"/>
          </a:xfrm>
          <a:prstGeom prst="rect">
            <a:avLst/>
          </a:prstGeom>
          <a:solidFill>
            <a:srgbClr val="006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74519"/>
            <a:ext cx="10789920" cy="4206240"/>
          </a:xfrm>
          <a:prstGeom prst="rect">
            <a:avLst/>
          </a:prstGeom>
          <a:noFill/>
        </p:spPr>
        <p:txBody>
          <a:bodyPr wrap="square">
            <a:spAutoFit/>
          </a:bodyPr>
          <a:lstStyle/>
          <a:p>
            <a:pPr>
              <a:spcAft>
                <a:spcPts val="1104"/>
              </a:spcAft>
            </a:pPr>
            <a:r>
              <a:rPr sz="1472">
                <a:solidFill>
                  <a:srgbClr val="0067C0"/>
                </a:solidFill>
                <a:latin typeface="Segoe UI"/>
              </a:rPr>
              <a:t>▪  </a:t>
            </a:r>
            <a:r>
              <a:rPr sz="1472" b="0">
                <a:solidFill>
                  <a:srgbClr val="1A1A1A"/>
                </a:solidFill>
                <a:latin typeface="Segoe UI"/>
              </a:rPr>
              <a:t>Une application monopage et une API en direct dans un locataire de démonstration Microsoft, qui rendent les formes du flux observables — rien ne s'exécute contre les locataires de Desjardins ou de Croesus.</a:t>
            </a:r>
          </a:p>
          <a:p>
            <a:pPr>
              <a:spcAft>
                <a:spcPts val="1104"/>
              </a:spcAft>
            </a:pPr>
            <a:r>
              <a:rPr sz="1472">
                <a:solidFill>
                  <a:srgbClr val="0067C0"/>
                </a:solidFill>
                <a:latin typeface="Segoe UI"/>
              </a:rPr>
              <a:t>▪  </a:t>
            </a:r>
            <a:r>
              <a:rPr sz="1472" b="1">
                <a:solidFill>
                  <a:srgbClr val="1A1A1A"/>
                </a:solidFill>
                <a:latin typeface="Segoe UI"/>
              </a:rPr>
              <a:t>Le mauvais et le bon :</a:t>
            </a:r>
            <a:r>
              <a:rPr sz="1472" b="0">
                <a:solidFill>
                  <a:srgbClr val="1A1A1A"/>
                </a:solidFill>
                <a:latin typeface="Segoe UI"/>
              </a:rPr>
              <a:t> un rejeu de jeton vers Microsoft Graph est rejeté sur l'audience, tandis qu'un véritable échange On-Behalf-Of émet un jeton distinct, avec sa propre audience.</a:t>
            </a:r>
          </a:p>
          <a:p>
            <a:pPr>
              <a:spcAft>
                <a:spcPts val="1104"/>
              </a:spcAft>
            </a:pPr>
            <a:r>
              <a:rPr sz="1472">
                <a:solidFill>
                  <a:srgbClr val="0067C0"/>
                </a:solidFill>
                <a:latin typeface="Segoe UI"/>
              </a:rPr>
              <a:t>▪  </a:t>
            </a:r>
            <a:r>
              <a:rPr sz="1472" b="1">
                <a:solidFill>
                  <a:srgbClr val="1A1A1A"/>
                </a:solidFill>
                <a:latin typeface="Segoe UI"/>
              </a:rPr>
              <a:t>La bifurcation d'inscription :</a:t>
            </a:r>
            <a:r>
              <a:rPr sz="1472" b="0">
                <a:solidFill>
                  <a:srgbClr val="1A1A1A"/>
                </a:solidFill>
                <a:latin typeface="Segoe UI"/>
              </a:rPr>
              <a:t> un panneau explique « spa » contre « web » et le comportement AADSTS9002327, avec des liens directs vers Q7 et Q8.</a:t>
            </a:r>
          </a:p>
          <a:p>
            <a:pPr>
              <a:spcAft>
                <a:spcPts val="1104"/>
              </a:spcAft>
            </a:pPr>
            <a:r>
              <a:rPr sz="1472">
                <a:solidFill>
                  <a:srgbClr val="0067C0"/>
                </a:solidFill>
                <a:latin typeface="Segoe UI"/>
              </a:rPr>
              <a:t>▪  </a:t>
            </a:r>
            <a:r>
              <a:rPr sz="1472" b="1">
                <a:solidFill>
                  <a:srgbClr val="1A1A1A"/>
                </a:solidFill>
                <a:latin typeface="Segoe UI"/>
              </a:rPr>
              <a:t>Inspecteur de jetons et panneau de preuve :</a:t>
            </a:r>
            <a:r>
              <a:rPr sz="1472" b="0">
                <a:solidFill>
                  <a:srgbClr val="1A1A1A"/>
                </a:solidFill>
                <a:latin typeface="Segoe UI"/>
              </a:rPr>
              <a:t> les revendications décodées montrent une liaison d'audience plutôt qu'un jeton réutilisé. L'inspecteur de jetons bruts est désactivé par défaut — nous demandons des empreintes au fournisseur, nous ne faisons donc pas la démonstration de la copie de jetons vivants.</a:t>
            </a:r>
          </a:p>
          <a:p>
            <a:pPr>
              <a:spcAft>
                <a:spcPts val="1104"/>
              </a:spcAft>
            </a:pPr>
            <a:r>
              <a:rPr sz="1472">
                <a:solidFill>
                  <a:srgbClr val="0067C0"/>
                </a:solidFill>
                <a:latin typeface="Segoe UI"/>
              </a:rPr>
              <a:t>▪  </a:t>
            </a:r>
            <a:r>
              <a:rPr sz="1472" b="1">
                <a:solidFill>
                  <a:srgbClr val="1A1A1A"/>
                </a:solidFill>
                <a:latin typeface="Segoe UI"/>
              </a:rPr>
              <a:t>Pièces de niveau 2 (sous drapeau) :</a:t>
            </a:r>
            <a:r>
              <a:rPr sz="1472" b="0">
                <a:solidFill>
                  <a:srgbClr val="1A1A1A"/>
                </a:solidFill>
                <a:latin typeface="Segoe UI"/>
              </a:rPr>
              <a:t> un contrôle de rejeu côté serveur, et une politique Token Protection en mode rapport seul qui reproduit le signal 1008 réel sur une ressource prise en charge.</a:t>
            </a:r>
          </a:p>
        </p:txBody>
      </p:sp>
      <p:sp>
        <p:nvSpPr>
          <p:cNvPr id="6" name="TextBox 5"/>
          <p:cNvSpPr txBox="1"/>
          <p:nvPr/>
        </p:nvSpPr>
        <p:spPr>
          <a:xfrm>
            <a:off x="685800" y="5440680"/>
            <a:ext cx="5943600" cy="365760"/>
          </a:xfrm>
          <a:prstGeom prst="rect">
            <a:avLst/>
          </a:prstGeom>
          <a:noFill/>
        </p:spPr>
        <p:txBody>
          <a:bodyPr wrap="square">
            <a:spAutoFit/>
          </a:bodyPr>
          <a:lstStyle/>
          <a:p>
            <a:r>
              <a:rPr sz="1472" b="1">
                <a:latin typeface="Segoe UI"/>
                <a:hlinkClick r:id="rId2"/>
              </a:rPr>
              <a:t>▶  Ouvrir la démo — croesus-spa.azurewebsites.net</a:t>
            </a:r>
          </a:p>
        </p:txBody>
      </p:sp>
      <p:sp>
        <p:nvSpPr>
          <p:cNvPr id="7" name="TextBox 6"/>
          <p:cNvSpPr txBox="1"/>
          <p:nvPr/>
        </p:nvSpPr>
        <p:spPr>
          <a:xfrm>
            <a:off x="685800" y="5852160"/>
            <a:ext cx="5943600" cy="365760"/>
          </a:xfrm>
          <a:prstGeom prst="rect">
            <a:avLst/>
          </a:prstGeom>
          <a:noFill/>
        </p:spPr>
        <p:txBody>
          <a:bodyPr wrap="square">
            <a:spAutoFit/>
          </a:bodyPr>
          <a:lstStyle/>
          <a:p>
            <a:r>
              <a:rPr sz="1472" b="1">
                <a:latin typeface="Segoe UI"/>
                <a:hlinkClick r:id="rId3"/>
              </a:rPr>
              <a:t>▶  Guide de la démonstration</a:t>
            </a:r>
          </a:p>
        </p:txBody>
      </p:sp>
      <p:sp>
        <p:nvSpPr>
          <p:cNvPr id="8" name="TextBox 7"/>
          <p:cNvSpPr txBox="1"/>
          <p:nvPr/>
        </p:nvSpPr>
        <p:spPr>
          <a:xfrm>
            <a:off x="6766560" y="5440680"/>
            <a:ext cx="4754880" cy="365760"/>
          </a:xfrm>
          <a:prstGeom prst="rect">
            <a:avLst/>
          </a:prstGeom>
          <a:noFill/>
        </p:spPr>
        <p:txBody>
          <a:bodyPr wrap="square">
            <a:spAutoFit/>
          </a:bodyPr>
          <a:lstStyle/>
          <a:p>
            <a:r>
              <a:rPr sz="1472" b="1">
                <a:latin typeface="Segoe UI"/>
                <a:hlinkClick r:id="rId4"/>
              </a:rPr>
              <a:t>▶  Récit de la preuve (correspondance question par question)</a:t>
            </a:r>
          </a:p>
        </p:txBody>
      </p:sp>
      <p:sp>
        <p:nvSpPr>
          <p:cNvPr id="9" name="TextBox 8"/>
          <p:cNvSpPr txBox="1"/>
          <p:nvPr/>
        </p:nvSpPr>
        <p:spPr>
          <a:xfrm>
            <a:off x="6766560" y="5852160"/>
            <a:ext cx="4754880" cy="365760"/>
          </a:xfrm>
          <a:prstGeom prst="rect">
            <a:avLst/>
          </a:prstGeom>
          <a:noFill/>
        </p:spPr>
        <p:txBody>
          <a:bodyPr wrap="square">
            <a:spAutoFit/>
          </a:bodyPr>
          <a:lstStyle/>
          <a:p>
            <a:r>
              <a:rPr sz="1472" b="1">
                <a:latin typeface="Segoe UI"/>
                <a:hlinkClick r:id="rId5"/>
              </a:rPr>
              <a:t>▶  Requêtes KQL de preuve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BFC"/>
        </a:solidFill>
        <a:effectLst/>
      </p:bgPr>
    </p:bg>
    <p:spTree>
      <p:nvGrpSpPr>
        <p:cNvPr id="1" name=""/>
        <p:cNvGrpSpPr/>
        <p:nvPr/>
      </p:nvGrpSpPr>
      <p:grpSpPr/>
      <p:sp>
        <p:nvSpPr>
          <p:cNvPr id="2" name="TextBox 1"/>
          <p:cNvSpPr txBox="1"/>
          <p:nvPr/>
        </p:nvSpPr>
        <p:spPr>
          <a:xfrm>
            <a:off x="640080" y="384048"/>
            <a:ext cx="10881360" cy="320040"/>
          </a:xfrm>
          <a:prstGeom prst="rect">
            <a:avLst/>
          </a:prstGeom>
          <a:noFill/>
        </p:spPr>
        <p:txBody>
          <a:bodyPr wrap="square">
            <a:spAutoFit/>
          </a:bodyPr>
          <a:lstStyle/>
          <a:p>
            <a:pPr algn="l"/>
            <a:r>
              <a:rPr sz="1104" b="1" i="0">
                <a:solidFill>
                  <a:srgbClr val="0067C0"/>
                </a:solidFill>
                <a:latin typeface="Segoe UI"/>
              </a:rPr>
              <a:t>EN SORTANT DE CETTE SÉANCE</a:t>
            </a:r>
          </a:p>
        </p:txBody>
      </p:sp>
      <p:sp>
        <p:nvSpPr>
          <p:cNvPr id="3" name="TextBox 2"/>
          <p:cNvSpPr txBox="1"/>
          <p:nvPr/>
        </p:nvSpPr>
        <p:spPr>
          <a:xfrm>
            <a:off x="640080" y="685800"/>
            <a:ext cx="10881360" cy="777240"/>
          </a:xfrm>
          <a:prstGeom prst="rect">
            <a:avLst/>
          </a:prstGeom>
          <a:noFill/>
        </p:spPr>
        <p:txBody>
          <a:bodyPr wrap="square">
            <a:spAutoFit/>
          </a:bodyPr>
          <a:lstStyle/>
          <a:p>
            <a:pPr algn="l"/>
            <a:r>
              <a:rPr sz="2944" b="1" i="0">
                <a:solidFill>
                  <a:srgbClr val="001B3D"/>
                </a:solidFill>
                <a:latin typeface="Segoe UI"/>
              </a:rPr>
              <a:t>Prochaines étapes et responsables</a:t>
            </a:r>
          </a:p>
        </p:txBody>
      </p:sp>
      <p:sp>
        <p:nvSpPr>
          <p:cNvPr id="4" name="Rectangle 3"/>
          <p:cNvSpPr/>
          <p:nvPr/>
        </p:nvSpPr>
        <p:spPr>
          <a:xfrm>
            <a:off x="640080" y="1481328"/>
            <a:ext cx="10881360" cy="31750"/>
          </a:xfrm>
          <a:prstGeom prst="rect">
            <a:avLst/>
          </a:prstGeom>
          <a:solidFill>
            <a:srgbClr val="006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85800" y="1920240"/>
          <a:ext cx="10835640" cy="3703320"/>
        </p:xfrm>
        <a:graphic>
          <a:graphicData uri="http://schemas.openxmlformats.org/drawingml/2006/table">
            <a:tbl>
              <a:tblPr firstRow="1" bandRow="1">
                <a:tableStyleId>{5C22544A-7EE6-4342-B048-85BDC9FD1C3A}</a:tableStyleId>
              </a:tblPr>
              <a:tblGrid>
                <a:gridCol w="548640"/>
                <a:gridCol w="4937760"/>
                <a:gridCol w="1737360"/>
                <a:gridCol w="3611880"/>
              </a:tblGrid>
              <a:tr h="617220">
                <a:tc>
                  <a:txBody>
                    <a:bodyPr/>
                    <a:lstStyle/>
                    <a:p>
                      <a:r>
                        <a:rPr sz="1196" b="1">
                          <a:solidFill>
                            <a:srgbClr val="FFFFFF"/>
                          </a:solidFill>
                          <a:latin typeface="Segoe UI"/>
                        </a:rPr>
                        <a:t>#</a:t>
                      </a:r>
                    </a:p>
                  </a:txBody>
                  <a:tcPr anchor="ctr">
                    <a:solidFill>
                      <a:srgbClr val="001B3D"/>
                    </a:solidFill>
                  </a:tcPr>
                </a:tc>
                <a:tc>
                  <a:txBody>
                    <a:bodyPr/>
                    <a:lstStyle/>
                    <a:p>
                      <a:r>
                        <a:rPr sz="1196" b="1">
                          <a:solidFill>
                            <a:srgbClr val="FFFFFF"/>
                          </a:solidFill>
                          <a:latin typeface="Segoe UI"/>
                        </a:rPr>
                        <a:t>Action</a:t>
                      </a:r>
                    </a:p>
                  </a:txBody>
                  <a:tcPr anchor="ctr">
                    <a:solidFill>
                      <a:srgbClr val="001B3D"/>
                    </a:solidFill>
                  </a:tcPr>
                </a:tc>
                <a:tc>
                  <a:txBody>
                    <a:bodyPr/>
                    <a:lstStyle/>
                    <a:p>
                      <a:r>
                        <a:rPr sz="1196" b="1">
                          <a:solidFill>
                            <a:srgbClr val="FFFFFF"/>
                          </a:solidFill>
                          <a:latin typeface="Segoe UI"/>
                        </a:rPr>
                        <a:t>Responsable</a:t>
                      </a:r>
                    </a:p>
                  </a:txBody>
                  <a:tcPr anchor="ctr">
                    <a:solidFill>
                      <a:srgbClr val="001B3D"/>
                    </a:solidFill>
                  </a:tcPr>
                </a:tc>
                <a:tc>
                  <a:txBody>
                    <a:bodyPr/>
                    <a:lstStyle/>
                    <a:p>
                      <a:r>
                        <a:rPr sz="1196" b="1">
                          <a:solidFill>
                            <a:srgbClr val="FFFFFF"/>
                          </a:solidFill>
                          <a:latin typeface="Segoe UI"/>
                        </a:rPr>
                        <a:t>Referme</a:t>
                      </a:r>
                    </a:p>
                  </a:txBody>
                  <a:tcPr anchor="ctr">
                    <a:solidFill>
                      <a:srgbClr val="001B3D"/>
                    </a:solidFill>
                  </a:tcPr>
                </a:tc>
              </a:tr>
              <a:tr h="617220">
                <a:tc>
                  <a:txBody>
                    <a:bodyPr/>
                    <a:lstStyle/>
                    <a:p>
                      <a:r>
                        <a:rPr sz="1196">
                          <a:solidFill>
                            <a:srgbClr val="1A1A1A"/>
                          </a:solidFill>
                          <a:latin typeface="Segoe UI"/>
                        </a:rPr>
                        <a:t>1</a:t>
                      </a:r>
                    </a:p>
                  </a:txBody>
                  <a:tcPr anchor="ctr">
                    <a:solidFill>
                      <a:srgbClr val="FFFFFF"/>
                    </a:solidFill>
                  </a:tcPr>
                </a:tc>
                <a:tc>
                  <a:txBody>
                    <a:bodyPr/>
                    <a:lstStyle/>
                    <a:p>
                      <a:r>
                        <a:rPr sz="1196">
                          <a:solidFill>
                            <a:srgbClr val="1A1A1A"/>
                          </a:solidFill>
                          <a:latin typeface="Segoe UI"/>
                        </a:rPr>
                        <a:t>Interroger les journaux de connexion Entra sur le volet côté serveur : succès ou AADSTS9002327</a:t>
                      </a:r>
                    </a:p>
                  </a:txBody>
                  <a:tcPr anchor="ctr">
                    <a:solidFill>
                      <a:srgbClr val="FFFFFF"/>
                    </a:solidFill>
                  </a:tcPr>
                </a:tc>
                <a:tc>
                  <a:txBody>
                    <a:bodyPr/>
                    <a:lstStyle/>
                    <a:p>
                      <a:r>
                        <a:rPr sz="1196">
                          <a:solidFill>
                            <a:srgbClr val="1A1A1A"/>
                          </a:solidFill>
                          <a:latin typeface="Segoe UI"/>
                        </a:rPr>
                        <a:t>Desjardins</a:t>
                      </a:r>
                    </a:p>
                  </a:txBody>
                  <a:tcPr anchor="ctr">
                    <a:solidFill>
                      <a:srgbClr val="FFFFFF"/>
                    </a:solidFill>
                  </a:tcPr>
                </a:tc>
                <a:tc>
                  <a:txBody>
                    <a:bodyPr/>
                    <a:lstStyle/>
                    <a:p>
                      <a:r>
                        <a:rPr sz="1196">
                          <a:solidFill>
                            <a:srgbClr val="1A1A1A"/>
                          </a:solidFill>
                          <a:latin typeface="Segoe UI"/>
                        </a:rPr>
                        <a:t>Réduit la bifurcation sans le fournisseur</a:t>
                      </a:r>
                    </a:p>
                  </a:txBody>
                  <a:tcPr anchor="ctr">
                    <a:solidFill>
                      <a:srgbClr val="FFFFFF"/>
                    </a:solidFill>
                  </a:tcPr>
                </a:tc>
              </a:tr>
              <a:tr h="617220">
                <a:tc>
                  <a:txBody>
                    <a:bodyPr/>
                    <a:lstStyle/>
                    <a:p>
                      <a:r>
                        <a:rPr sz="1196">
                          <a:solidFill>
                            <a:srgbClr val="1A1A1A"/>
                          </a:solidFill>
                          <a:latin typeface="Segoe UI"/>
                        </a:rPr>
                        <a:t>2</a:t>
                      </a:r>
                    </a:p>
                  </a:txBody>
                  <a:tcPr anchor="ctr">
                    <a:solidFill>
                      <a:srgbClr val="F2F6FA"/>
                    </a:solidFill>
                  </a:tcPr>
                </a:tc>
                <a:tc>
                  <a:txBody>
                    <a:bodyPr/>
                    <a:lstStyle/>
                    <a:p>
                      <a:r>
                        <a:rPr sz="1196">
                          <a:solidFill>
                            <a:srgbClr val="1A1A1A"/>
                          </a:solidFill>
                          <a:latin typeface="Segoe UI"/>
                        </a:rPr>
                        <a:t>Fournir une capture /token caviardée (empreintes ou présence seulement)</a:t>
                      </a:r>
                    </a:p>
                  </a:txBody>
                  <a:tcPr anchor="ctr">
                    <a:solidFill>
                      <a:srgbClr val="F2F6FA"/>
                    </a:solidFill>
                  </a:tcPr>
                </a:tc>
                <a:tc>
                  <a:txBody>
                    <a:bodyPr/>
                    <a:lstStyle/>
                    <a:p>
                      <a:r>
                        <a:rPr sz="1196">
                          <a:solidFill>
                            <a:srgbClr val="1A1A1A"/>
                          </a:solidFill>
                          <a:latin typeface="Segoe UI"/>
                        </a:rPr>
                        <a:t>Croesus</a:t>
                      </a:r>
                    </a:p>
                  </a:txBody>
                  <a:tcPr anchor="ctr">
                    <a:solidFill>
                      <a:srgbClr val="F2F6FA"/>
                    </a:solidFill>
                  </a:tcPr>
                </a:tc>
                <a:tc>
                  <a:txBody>
                    <a:bodyPr/>
                    <a:lstStyle/>
                    <a:p>
                      <a:r>
                        <a:rPr sz="1196">
                          <a:solidFill>
                            <a:srgbClr val="1A1A1A"/>
                          </a:solidFill>
                          <a:latin typeface="Segoe UI"/>
                        </a:rPr>
                        <a:t>Q7</a:t>
                      </a:r>
                    </a:p>
                  </a:txBody>
                  <a:tcPr anchor="ctr">
                    <a:solidFill>
                      <a:srgbClr val="F2F6FA"/>
                    </a:solidFill>
                  </a:tcPr>
                </a:tc>
              </a:tr>
              <a:tr h="617220">
                <a:tc>
                  <a:txBody>
                    <a:bodyPr/>
                    <a:lstStyle/>
                    <a:p>
                      <a:r>
                        <a:rPr sz="1196">
                          <a:solidFill>
                            <a:srgbClr val="1A1A1A"/>
                          </a:solidFill>
                          <a:latin typeface="Segoe UI"/>
                        </a:rPr>
                        <a:t>3</a:t>
                      </a:r>
                    </a:p>
                  </a:txBody>
                  <a:tcPr anchor="ctr">
                    <a:solidFill>
                      <a:srgbClr val="FFFFFF"/>
                    </a:solidFill>
                  </a:tcPr>
                </a:tc>
                <a:tc>
                  <a:txBody>
                    <a:bodyPr/>
                    <a:lstStyle/>
                    <a:p>
                      <a:r>
                        <a:rPr sz="1196">
                          <a:solidFill>
                            <a:srgbClr val="1A1A1A"/>
                          </a:solidFill>
                          <a:latin typeface="Segoe UI"/>
                        </a:rPr>
                        <a:t>Fournir l'inventaire complet des inscriptions et principaux de service</a:t>
                      </a:r>
                    </a:p>
                  </a:txBody>
                  <a:tcPr anchor="ctr">
                    <a:solidFill>
                      <a:srgbClr val="FFFFFF"/>
                    </a:solidFill>
                  </a:tcPr>
                </a:tc>
                <a:tc>
                  <a:txBody>
                    <a:bodyPr/>
                    <a:lstStyle/>
                    <a:p>
                      <a:r>
                        <a:rPr sz="1196">
                          <a:solidFill>
                            <a:srgbClr val="1A1A1A"/>
                          </a:solidFill>
                          <a:latin typeface="Segoe UI"/>
                        </a:rPr>
                        <a:t>Croesus</a:t>
                      </a:r>
                    </a:p>
                  </a:txBody>
                  <a:tcPr anchor="ctr">
                    <a:solidFill>
                      <a:srgbClr val="FFFFFF"/>
                    </a:solidFill>
                  </a:tcPr>
                </a:tc>
                <a:tc>
                  <a:txBody>
                    <a:bodyPr/>
                    <a:lstStyle/>
                    <a:p>
                      <a:r>
                        <a:rPr sz="1196">
                          <a:solidFill>
                            <a:srgbClr val="1A1A1A"/>
                          </a:solidFill>
                          <a:latin typeface="Segoe UI"/>
                        </a:rPr>
                        <a:t>Q8</a:t>
                      </a:r>
                    </a:p>
                  </a:txBody>
                  <a:tcPr anchor="ctr">
                    <a:solidFill>
                      <a:srgbClr val="FFFFFF"/>
                    </a:solidFill>
                  </a:tcPr>
                </a:tc>
              </a:tr>
              <a:tr h="617220">
                <a:tc>
                  <a:txBody>
                    <a:bodyPr/>
                    <a:lstStyle/>
                    <a:p>
                      <a:r>
                        <a:rPr sz="1196">
                          <a:solidFill>
                            <a:srgbClr val="1A1A1A"/>
                          </a:solidFill>
                          <a:latin typeface="Segoe UI"/>
                        </a:rPr>
                        <a:t>4</a:t>
                      </a:r>
                    </a:p>
                  </a:txBody>
                  <a:tcPr anchor="ctr">
                    <a:solidFill>
                      <a:srgbClr val="F2F6FA"/>
                    </a:solidFill>
                  </a:tcPr>
                </a:tc>
                <a:tc>
                  <a:txBody>
                    <a:bodyPr/>
                    <a:lstStyle/>
                    <a:p>
                      <a:r>
                        <a:rPr sz="1196">
                          <a:solidFill>
                            <a:srgbClr val="1A1A1A"/>
                          </a:solidFill>
                          <a:latin typeface="Segoe UI"/>
                        </a:rPr>
                        <a:t>Fournir les plages d'IP de sortie AWS et la définition du flux prévu</a:t>
                      </a:r>
                    </a:p>
                  </a:txBody>
                  <a:tcPr anchor="ctr">
                    <a:solidFill>
                      <a:srgbClr val="F2F6FA"/>
                    </a:solidFill>
                  </a:tcPr>
                </a:tc>
                <a:tc>
                  <a:txBody>
                    <a:bodyPr/>
                    <a:lstStyle/>
                    <a:p>
                      <a:r>
                        <a:rPr sz="1196">
                          <a:solidFill>
                            <a:srgbClr val="1A1A1A"/>
                          </a:solidFill>
                          <a:latin typeface="Segoe UI"/>
                        </a:rPr>
                        <a:t>Croesus</a:t>
                      </a:r>
                    </a:p>
                  </a:txBody>
                  <a:tcPr anchor="ctr">
                    <a:solidFill>
                      <a:srgbClr val="F2F6FA"/>
                    </a:solidFill>
                  </a:tcPr>
                </a:tc>
                <a:tc>
                  <a:txBody>
                    <a:bodyPr/>
                    <a:lstStyle/>
                    <a:p>
                      <a:r>
                        <a:rPr sz="1196">
                          <a:solidFill>
                            <a:srgbClr val="1A1A1A"/>
                          </a:solidFill>
                          <a:latin typeface="Segoe UI"/>
                        </a:rPr>
                        <a:t>Q4, Q1</a:t>
                      </a:r>
                    </a:p>
                  </a:txBody>
                  <a:tcPr anchor="ctr">
                    <a:solidFill>
                      <a:srgbClr val="F2F6FA"/>
                    </a:solidFill>
                  </a:tcPr>
                </a:tc>
              </a:tr>
              <a:tr h="617220">
                <a:tc>
                  <a:txBody>
                    <a:bodyPr/>
                    <a:lstStyle/>
                    <a:p>
                      <a:r>
                        <a:rPr sz="1196">
                          <a:solidFill>
                            <a:srgbClr val="1A1A1A"/>
                          </a:solidFill>
                          <a:latin typeface="Segoe UI"/>
                        </a:rPr>
                        <a:t>5</a:t>
                      </a:r>
                    </a:p>
                  </a:txBody>
                  <a:tcPr anchor="ctr">
                    <a:solidFill>
                      <a:srgbClr val="FFFFFF"/>
                    </a:solidFill>
                  </a:tcPr>
                </a:tc>
                <a:tc>
                  <a:txBody>
                    <a:bodyPr/>
                    <a:lstStyle/>
                    <a:p>
                      <a:r>
                        <a:rPr sz="1196">
                          <a:solidFill>
                            <a:srgbClr val="1A1A1A"/>
                          </a:solidFill>
                          <a:latin typeface="Segoe UI"/>
                        </a:rPr>
                        <a:t>Choisir la remédiation minimale une fois la branche connue</a:t>
                      </a:r>
                    </a:p>
                  </a:txBody>
                  <a:tcPr anchor="ctr">
                    <a:solidFill>
                      <a:srgbClr val="FFFFFF"/>
                    </a:solidFill>
                  </a:tcPr>
                </a:tc>
                <a:tc>
                  <a:txBody>
                    <a:bodyPr/>
                    <a:lstStyle/>
                    <a:p>
                      <a:r>
                        <a:rPr sz="1196">
                          <a:solidFill>
                            <a:srgbClr val="1A1A1A"/>
                          </a:solidFill>
                          <a:latin typeface="Segoe UI"/>
                        </a:rPr>
                        <a:t>Conjoint</a:t>
                      </a:r>
                    </a:p>
                  </a:txBody>
                  <a:tcPr anchor="ctr">
                    <a:solidFill>
                      <a:srgbClr val="FFFFFF"/>
                    </a:solidFill>
                  </a:tcPr>
                </a:tc>
                <a:tc>
                  <a:txBody>
                    <a:bodyPr/>
                    <a:lstStyle/>
                    <a:p>
                      <a:r>
                        <a:rPr sz="1196">
                          <a:solidFill>
                            <a:srgbClr val="1A1A1A"/>
                          </a:solidFill>
                          <a:latin typeface="Segoe UI"/>
                        </a:rPr>
                        <a:t>L'escalade</a:t>
                      </a:r>
                    </a:p>
                  </a:txBody>
                  <a:tcPr anchor="ctr">
                    <a:solidFill>
                      <a:srgbClr val="FFFFFF"/>
                    </a:solidFill>
                  </a:tcPr>
                </a:tc>
              </a:tr>
            </a:tbl>
          </a:graphicData>
        </a:graphic>
      </p:graphicFrame>
      <p:sp>
        <p:nvSpPr>
          <p:cNvPr id="6" name="TextBox 5"/>
          <p:cNvSpPr txBox="1"/>
          <p:nvPr/>
        </p:nvSpPr>
        <p:spPr>
          <a:xfrm>
            <a:off x="685800" y="5669280"/>
            <a:ext cx="10789920" cy="548640"/>
          </a:xfrm>
          <a:prstGeom prst="rect">
            <a:avLst/>
          </a:prstGeom>
          <a:noFill/>
        </p:spPr>
        <p:txBody>
          <a:bodyPr wrap="square">
            <a:spAutoFit/>
          </a:bodyPr>
          <a:lstStyle/>
          <a:p>
            <a:pPr algn="l"/>
            <a:r>
              <a:rPr sz="1564" b="1" i="0">
                <a:solidFill>
                  <a:srgbClr val="B00020"/>
                </a:solidFill>
                <a:latin typeface="Segoe UI"/>
              </a:rPr>
              <a:t>Garde-fou d'ici là : ne pas modifier l'accès conditionnel, ne pas mettre les IP de sortie AWS en liste d'autorisation, et ne pas imposer On-Behalf-Of.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384048"/>
            <a:ext cx="10881360" cy="320040"/>
          </a:xfrm>
          <a:prstGeom prst="rect">
            <a:avLst/>
          </a:prstGeom>
          <a:noFill/>
        </p:spPr>
        <p:txBody>
          <a:bodyPr wrap="square">
            <a:spAutoFit/>
          </a:bodyPr>
          <a:lstStyle/>
          <a:p>
            <a:pPr algn="l"/>
            <a:r>
              <a:rPr sz="1104" b="1" i="0">
                <a:solidFill>
                  <a:srgbClr val="0067C0"/>
                </a:solidFill>
                <a:latin typeface="Segoe UI"/>
              </a:rPr>
              <a:t>TOUT CE QUI EST RÉFÉRENCÉ DANS CETTE PRÉSENTATION</a:t>
            </a:r>
          </a:p>
        </p:txBody>
      </p:sp>
      <p:sp>
        <p:nvSpPr>
          <p:cNvPr id="3" name="TextBox 2"/>
          <p:cNvSpPr txBox="1"/>
          <p:nvPr/>
        </p:nvSpPr>
        <p:spPr>
          <a:xfrm>
            <a:off x="640080" y="685800"/>
            <a:ext cx="10881360" cy="777240"/>
          </a:xfrm>
          <a:prstGeom prst="rect">
            <a:avLst/>
          </a:prstGeom>
          <a:noFill/>
        </p:spPr>
        <p:txBody>
          <a:bodyPr wrap="square">
            <a:spAutoFit/>
          </a:bodyPr>
          <a:lstStyle/>
          <a:p>
            <a:pPr algn="l"/>
            <a:r>
              <a:rPr sz="2944" b="1" i="0">
                <a:solidFill>
                  <a:srgbClr val="001B3D"/>
                </a:solidFill>
                <a:latin typeface="Segoe UI"/>
              </a:rPr>
              <a:t>Liens</a:t>
            </a:r>
          </a:p>
        </p:txBody>
      </p:sp>
      <p:sp>
        <p:nvSpPr>
          <p:cNvPr id="4" name="Rectangle 3"/>
          <p:cNvSpPr/>
          <p:nvPr/>
        </p:nvSpPr>
        <p:spPr>
          <a:xfrm>
            <a:off x="640080" y="1481328"/>
            <a:ext cx="10881360" cy="31750"/>
          </a:xfrm>
          <a:prstGeom prst="rect">
            <a:avLst/>
          </a:prstGeom>
          <a:solidFill>
            <a:srgbClr val="0067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74519"/>
            <a:ext cx="10515600" cy="384048"/>
          </a:xfrm>
          <a:prstGeom prst="rect">
            <a:avLst/>
          </a:prstGeom>
          <a:noFill/>
        </p:spPr>
        <p:txBody>
          <a:bodyPr wrap="square">
            <a:spAutoFit/>
          </a:bodyPr>
          <a:lstStyle/>
          <a:p>
            <a:r>
              <a:rPr sz="1472" b="1">
                <a:latin typeface="Segoe UI"/>
                <a:hlinkClick r:id="rId2"/>
              </a:rPr>
              <a:t>▶  Liste des questions Q1–Q9 (dossier d'escalade)</a:t>
            </a:r>
          </a:p>
        </p:txBody>
      </p:sp>
      <p:sp>
        <p:nvSpPr>
          <p:cNvPr id="6" name="TextBox 5"/>
          <p:cNvSpPr txBox="1"/>
          <p:nvPr/>
        </p:nvSpPr>
        <p:spPr>
          <a:xfrm>
            <a:off x="777240" y="2331720"/>
            <a:ext cx="10515600" cy="384048"/>
          </a:xfrm>
          <a:prstGeom prst="rect">
            <a:avLst/>
          </a:prstGeom>
          <a:noFill/>
        </p:spPr>
        <p:txBody>
          <a:bodyPr wrap="square">
            <a:spAutoFit/>
          </a:bodyPr>
          <a:lstStyle/>
          <a:p>
            <a:r>
              <a:rPr sz="1472" b="1">
                <a:latin typeface="Segoe UI"/>
                <a:hlinkClick r:id="rId3"/>
              </a:rPr>
              <a:t>▶  Dossier d'escalade — document complet</a:t>
            </a:r>
          </a:p>
        </p:txBody>
      </p:sp>
      <p:sp>
        <p:nvSpPr>
          <p:cNvPr id="7" name="TextBox 6"/>
          <p:cNvSpPr txBox="1"/>
          <p:nvPr/>
        </p:nvSpPr>
        <p:spPr>
          <a:xfrm>
            <a:off x="777240" y="2788920"/>
            <a:ext cx="10515600" cy="384048"/>
          </a:xfrm>
          <a:prstGeom prst="rect">
            <a:avLst/>
          </a:prstGeom>
          <a:noFill/>
        </p:spPr>
        <p:txBody>
          <a:bodyPr wrap="square">
            <a:spAutoFit/>
          </a:bodyPr>
          <a:lstStyle/>
          <a:p>
            <a:r>
              <a:rPr sz="1472" b="1">
                <a:latin typeface="Segoe UI"/>
                <a:hlinkClick r:id="rId4"/>
              </a:rPr>
              <a:t>▶  Analyse complète — README</a:t>
            </a:r>
          </a:p>
        </p:txBody>
      </p:sp>
      <p:sp>
        <p:nvSpPr>
          <p:cNvPr id="8" name="TextBox 7"/>
          <p:cNvSpPr txBox="1"/>
          <p:nvPr/>
        </p:nvSpPr>
        <p:spPr>
          <a:xfrm>
            <a:off x="777240" y="3246120"/>
            <a:ext cx="10515600" cy="384048"/>
          </a:xfrm>
          <a:prstGeom prst="rect">
            <a:avLst/>
          </a:prstGeom>
          <a:noFill/>
        </p:spPr>
        <p:txBody>
          <a:bodyPr wrap="square">
            <a:spAutoFit/>
          </a:bodyPr>
          <a:lstStyle/>
          <a:p>
            <a:r>
              <a:rPr sz="1472" b="1">
                <a:latin typeface="Segoe UI"/>
                <a:hlinkClick r:id="rId5"/>
              </a:rPr>
              <a:t>▶  Qui peut capturer l'en-tête Origin de /token</a:t>
            </a:r>
          </a:p>
        </p:txBody>
      </p:sp>
      <p:sp>
        <p:nvSpPr>
          <p:cNvPr id="9" name="TextBox 8"/>
          <p:cNvSpPr txBox="1"/>
          <p:nvPr/>
        </p:nvSpPr>
        <p:spPr>
          <a:xfrm>
            <a:off x="777240" y="3703320"/>
            <a:ext cx="10515600" cy="384048"/>
          </a:xfrm>
          <a:prstGeom prst="rect">
            <a:avLst/>
          </a:prstGeom>
          <a:noFill/>
        </p:spPr>
        <p:txBody>
          <a:bodyPr wrap="square">
            <a:spAutoFit/>
          </a:bodyPr>
          <a:lstStyle/>
          <a:p>
            <a:r>
              <a:rPr sz="1472" b="1">
                <a:latin typeface="Segoe UI"/>
                <a:hlinkClick r:id="rId6"/>
              </a:rPr>
              <a:t>▶  Récit de la preuve — correspondance question par question</a:t>
            </a:r>
          </a:p>
        </p:txBody>
      </p:sp>
      <p:sp>
        <p:nvSpPr>
          <p:cNvPr id="10" name="TextBox 9"/>
          <p:cNvSpPr txBox="1"/>
          <p:nvPr/>
        </p:nvSpPr>
        <p:spPr>
          <a:xfrm>
            <a:off x="777240" y="4160520"/>
            <a:ext cx="10515600" cy="384048"/>
          </a:xfrm>
          <a:prstGeom prst="rect">
            <a:avLst/>
          </a:prstGeom>
          <a:noFill/>
        </p:spPr>
        <p:txBody>
          <a:bodyPr wrap="square">
            <a:spAutoFit/>
          </a:bodyPr>
          <a:lstStyle/>
          <a:p>
            <a:r>
              <a:rPr sz="1472" b="1">
                <a:latin typeface="Segoe UI"/>
                <a:hlinkClick r:id="rId7"/>
              </a:rPr>
              <a:t>▶  Guide de démonstration On-Behalf-Of</a:t>
            </a:r>
          </a:p>
        </p:txBody>
      </p:sp>
      <p:sp>
        <p:nvSpPr>
          <p:cNvPr id="11" name="TextBox 10"/>
          <p:cNvSpPr txBox="1"/>
          <p:nvPr/>
        </p:nvSpPr>
        <p:spPr>
          <a:xfrm>
            <a:off x="777240" y="4617720"/>
            <a:ext cx="10515600" cy="384048"/>
          </a:xfrm>
          <a:prstGeom prst="rect">
            <a:avLst/>
          </a:prstGeom>
          <a:noFill/>
        </p:spPr>
        <p:txBody>
          <a:bodyPr wrap="square">
            <a:spAutoFit/>
          </a:bodyPr>
          <a:lstStyle/>
          <a:p>
            <a:r>
              <a:rPr sz="1472" b="1">
                <a:latin typeface="Segoe UI"/>
                <a:hlinkClick r:id="rId8"/>
              </a:rPr>
              <a:t>▶  Requêtes KQL de preuve</a:t>
            </a:r>
          </a:p>
        </p:txBody>
      </p:sp>
      <p:sp>
        <p:nvSpPr>
          <p:cNvPr id="12" name="TextBox 11"/>
          <p:cNvSpPr txBox="1"/>
          <p:nvPr/>
        </p:nvSpPr>
        <p:spPr>
          <a:xfrm>
            <a:off x="777240" y="5074920"/>
            <a:ext cx="10515600" cy="384048"/>
          </a:xfrm>
          <a:prstGeom prst="rect">
            <a:avLst/>
          </a:prstGeom>
          <a:noFill/>
        </p:spPr>
        <p:txBody>
          <a:bodyPr wrap="square">
            <a:spAutoFit/>
          </a:bodyPr>
          <a:lstStyle/>
          <a:p>
            <a:r>
              <a:rPr sz="1472" b="1">
                <a:latin typeface="Segoe UI"/>
                <a:hlinkClick r:id="rId9"/>
              </a:rPr>
              <a:t>▶  Dépôt — devopsabcs-engineering/croesus</a:t>
            </a:r>
          </a:p>
        </p:txBody>
      </p:sp>
      <p:sp>
        <p:nvSpPr>
          <p:cNvPr id="13" name="TextBox 12"/>
          <p:cNvSpPr txBox="1"/>
          <p:nvPr/>
        </p:nvSpPr>
        <p:spPr>
          <a:xfrm>
            <a:off x="777240" y="5532120"/>
            <a:ext cx="10515600" cy="384048"/>
          </a:xfrm>
          <a:prstGeom prst="rect">
            <a:avLst/>
          </a:prstGeom>
          <a:noFill/>
        </p:spPr>
        <p:txBody>
          <a:bodyPr wrap="square">
            <a:spAutoFit/>
          </a:bodyPr>
          <a:lstStyle/>
          <a:p>
            <a:r>
              <a:rPr sz="1472" b="1">
                <a:latin typeface="Segoe UI"/>
                <a:hlinkClick r:id="rId10"/>
              </a:rPr>
              <a:t>▶  Application de démonstration en direct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