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Cadrage : il s'agit d'une séance conjointe d'établissement des faits, non d'un rapport de défaut. Le blocage d'accès conditionnel est correct par conception. La portée se limite à GPD Central — Conseiller est un produit distinct et une évaluation distincte. Le dire d'emblée.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Garder un ton collaboratif. Dire clairement que le blocage n'est ni une mauvaise configuration de Desjardins, ni une accusation envers Croesus.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Cette diapositive est le résumé exécutif. Si la séance s'arrête après cinq minutes, ce sont ces cinq lignes qui doivent passer. Portée : Central seulement.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la diapositive de crédibilité. Montrer ce que nous refusons de sur-interpréter donne le droit de formuler la demande de la diapositive 9.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Créditer Mathieu pour cette capture. Souligner qu'elle confirme ce que Croesus a affirmé — nous validons le fournisseur, nous ne le contredisons pas.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centrale. Aucune des deux explications n'est une crise et chacune appelle une remédiation modeste. Q8 les sépare en une seule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Formuler le point techniquement, sans accusation : c'est une règle de la plateforme, pas une opinion. Et la première étape du correctif est peu coûteuse.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panneau s'affiche sans connexion : il peut donc être présenté en partage d'écran. Q8, Q7 et la liste complète des questions sont cliquables directement depuis la page. L'interface de la démo est en anglais.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L'en-tête Origin brut n'est jamais un champ des journaux de connexion du locataire. Il n'existe que sur la requête HTTP envoyée à Entra par l'appelant.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Insister d'emblée sur la règle de caviardage — c'est ce qui rend Q7 répondable par un fournisseur soucieux de sécurité. Q8 passe en tête car elle peut lever l'ambiguïté en une seule réponse.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 message : chaque voie est modeste et réversible. Personne n'a besoin d'une refonte, et Desjardins n'a pas à affaiblir son accès conditionnel. Sur la confiance d'appareil — créditer Mathieu Santerre pour la correction : les paramètres de confiance entrante honorent une revendication d'appareil portée par le jeton d'un invité provenant de son locataire d'origine ; ils ne peuvent donc pas transposer l'état d'appareil de Prod dans une connexion native en préproduction.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Ordre de la démo : se connecter, appeler l'API, montrer le panneau de preuve, puis le bouton de rejeu, puis faire défiler jusqu'au panneau d'erreur de type d'inscription et cliquer vers Q8/Q7.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Conclure en redisant le garde-fou. Il protège les deux parties : aucun relâchement prématuré de politique, aucune refonte prématurée du côté du fournisseur. L'élément 1 nous appartient et ne dépend de personne.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Partager la présentation elle-même — tous les liens sont cliquables en mode diaporama.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3way-session-findings.md" TargetMode="External"/><Relationship Id="rId3" Type="http://schemas.openxmlformats.org/officeDocument/2006/relationships/hyperlink" Target="https://github.com/devopsabcs-engineering/croesus/blob/main/assets/croesus-escalation-packet.md#2-questions-for-croesus" TargetMode="External"/><Relationship Id="rId4" Type="http://schemas.openxmlformats.org/officeDocument/2006/relationships/hyperlink" Target="https://croesus-spa.azurewebsites.net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croesus-spa.azurewebsites.net" TargetMode="External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README.md#who-can-capture-the-token-origin-header" TargetMode="Externa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escalation-packet.md#2-questions-for-croesus" TargetMode="External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croesus-spa.azurewebsites.net" TargetMode="External"/><Relationship Id="rId3" Type="http://schemas.openxmlformats.org/officeDocument/2006/relationships/hyperlink" Target="https://github.com/devopsabcs-engineering/croesus/blob/main/docs/obo-demo-guide.md" TargetMode="External"/><Relationship Id="rId4" Type="http://schemas.openxmlformats.org/officeDocument/2006/relationships/hyperlink" Target="https://github.com/devopsabcs-engineering/croesus/blob/main/docs/evidence-narrative.md" TargetMode="External"/><Relationship Id="rId5" Type="http://schemas.openxmlformats.org/officeDocument/2006/relationships/hyperlink" Target="https://github.com/devopsabcs-engineering/croesus/blob/main/scripts/evidence-kql.kusto" TargetMode="External"/><Relationship Id="rId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github.com/devopsabcs-engineering/croesus/blob/main/assets/croesus-3way-session-findings.md" TargetMode="External"/><Relationship Id="rId3" Type="http://schemas.openxmlformats.org/officeDocument/2006/relationships/hyperlink" Target="https://github.com/devopsabcs-engineering/croesus/blob/main/assets/croesus-3way-session-findings.md#4-routes-and-workarounds" TargetMode="External"/><Relationship Id="rId4" Type="http://schemas.openxmlformats.org/officeDocument/2006/relationships/hyperlink" Target="https://github.com/devopsabcs-engineering/croesus/blob/main/assets/croesus-escalation-packet.md#2-questions-for-croesus" TargetMode="External"/><Relationship Id="rId5" Type="http://schemas.openxmlformats.org/officeDocument/2006/relationships/hyperlink" Target="https://github.com/devopsabcs-engineering/croesus/blob/main/assets/croesus-escalation-packet.md" TargetMode="External"/><Relationship Id="rId6" Type="http://schemas.openxmlformats.org/officeDocument/2006/relationships/hyperlink" Target="https://github.com/devopsabcs-engineering/croesus/blob/main/README.md" TargetMode="External"/><Relationship Id="rId7" Type="http://schemas.openxmlformats.org/officeDocument/2006/relationships/hyperlink" Target="https://github.com/devopsabcs-engineering/croesus/blob/main/README.md#who-can-capture-the-token-origin-header" TargetMode="External"/><Relationship Id="rId8" Type="http://schemas.openxmlformats.org/officeDocument/2006/relationships/hyperlink" Target="https://github.com/devopsabcs-engineering/croesus/blob/main/docs/evidence-narrative.md" TargetMode="External"/><Relationship Id="rId9" Type="http://schemas.openxmlformats.org/officeDocument/2006/relationships/hyperlink" Target="https://github.com/devopsabcs-engineering/croesus/blob/main/docs/obo-demo-guide.md" TargetMode="External"/><Relationship Id="rId10" Type="http://schemas.openxmlformats.org/officeDocument/2006/relationships/hyperlink" Target="https://github.com/devopsabcs-engineering/croesus/blob/main/scripts/evidence-kql.kusto" TargetMode="External"/><Relationship Id="rId11" Type="http://schemas.openxmlformats.org/officeDocument/2006/relationships/hyperlink" Target="https://croesus-spa.azurewebsites.net" TargetMode="External"/><Relationship Id="rId1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651760"/>
          </a:xfrm>
          <a:prstGeom prst="rect">
            <a:avLst/>
          </a:prstGeom>
          <a:solidFill>
            <a:srgbClr val="001B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777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96" b="1" i="0">
                <a:solidFill>
                  <a:srgbClr val="7FC4FF"/>
                </a:solidFill>
                <a:latin typeface="Segoe UI"/>
              </a:rPr>
              <a:t>DESJARDINS — CROESUS — MICROSOFT  |  SÉANCE DE TRAVAIL CONJOINTE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14300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128" b="1" i="0">
                <a:solidFill>
                  <a:srgbClr val="FFFFFF"/>
                </a:solidFill>
                <a:latin typeface="Segoe UI"/>
              </a:rPr>
              <a:t>SSO GPD Central : ce que la preuve démontre,
et les voies qui règlent le dossier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71800"/>
            <a:ext cx="10698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6" b="0" i="0">
                <a:solidFill>
                  <a:srgbClr val="565656"/>
                </a:solidFill>
                <a:latin typeface="Segoe UI"/>
              </a:rPr>
              <a:t>Inscriptions d'applications Entra ID, accès conditionnel et l'échange du code sur /token côté serveur  |  Central seulement — pas Conseiller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520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80" b="0" i="0">
                <a:solidFill>
                  <a:srgbClr val="565656"/>
                </a:solidFill>
                <a:latin typeface="Segoe UI"/>
              </a:rPr>
              <a:t>5 août 2026  —  mis à jour après la séance tripartite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2062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2"/>
              </a:rPr>
              <a:t>▶  Constats de la séance et les huit voies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3"/>
              </a:rPr>
              <a:t>▶  Liste des questions (Q1–Q14) sur GitHub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12064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4"/>
              </a:rPr>
              <a:t>▶  Démo en direct — croesus-spa.azurewebsites.net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POURQUOI NOUS SOMMES ICI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La question posée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6596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72"/>
              </a:spcAft>
            </a:pPr>
            <a:r>
              <a:rPr sz="1748">
                <a:solidFill>
                  <a:srgbClr val="0067C0"/>
                </a:solidFill>
                <a:latin typeface="Segoe UI"/>
              </a:rPr>
              <a:t>▪  </a:t>
            </a:r>
            <a:r>
              <a:rPr sz="1748" b="0">
                <a:solidFill>
                  <a:srgbClr val="1A1A1A"/>
                </a:solidFill>
                <a:latin typeface="Segoe UI"/>
              </a:rPr>
              <a:t>Les utilisateurs de Desjardins se connectent à GPD Central. Une </a:t>
            </a:r>
            <a:r>
              <a:rPr sz="1748" b="1">
                <a:solidFill>
                  <a:srgbClr val="1A1A1A"/>
                </a:solidFill>
                <a:latin typeface="Segoe UI"/>
              </a:rPr>
              <a:t>deuxième connexion, non interactive</a:t>
            </a:r>
            <a:r>
              <a:rPr sz="1748" b="0">
                <a:solidFill>
                  <a:srgbClr val="1A1A1A"/>
                </a:solidFill>
                <a:latin typeface="Segoe UI"/>
              </a:rPr>
              <a:t>, provient ensuite du serveur dorsal Croesus hébergé sur AWS et se voit </a:t>
            </a:r>
            <a:r>
              <a:rPr sz="1748" b="1">
                <a:solidFill>
                  <a:srgbClr val="1A1A1A"/>
                </a:solidFill>
                <a:latin typeface="Segoe UI"/>
              </a:rPr>
              <a:t>bloquée par l'accès conditionnel</a:t>
            </a:r>
            <a:r>
              <a:rPr sz="1748" b="0">
                <a:solidFill>
                  <a:srgbClr val="1A1A1A"/>
                </a:solidFill>
                <a:latin typeface="Segoe UI"/>
              </a:rPr>
              <a:t> en préproduction.</a:t>
            </a:r>
          </a:p>
          <a:p>
            <a:pPr>
              <a:spcAft>
                <a:spcPts val="1472"/>
              </a:spcAft>
            </a:pPr>
            <a:r>
              <a:rPr sz="1748">
                <a:solidFill>
                  <a:srgbClr val="0067C0"/>
                </a:solidFill>
                <a:latin typeface="Segoe UI"/>
              </a:rPr>
              <a:t>▪  </a:t>
            </a:r>
            <a:r>
              <a:rPr sz="1748" b="1">
                <a:solidFill>
                  <a:srgbClr val="1A1A1A"/>
                </a:solidFill>
                <a:latin typeface="Segoe UI"/>
              </a:rPr>
              <a:t>Une seule question : est-ce un comportement OAuth attendu, ou une mauvaise configuration ?</a:t>
            </a:r>
          </a:p>
          <a:p>
            <a:pPr>
              <a:spcAft>
                <a:spcPts val="1472"/>
              </a:spcAft>
            </a:pPr>
            <a:r>
              <a:rPr sz="1748">
                <a:solidFill>
                  <a:srgbClr val="0067C0"/>
                </a:solidFill>
                <a:latin typeface="Segoe UI"/>
              </a:rPr>
              <a:t>▪  </a:t>
            </a:r>
            <a:r>
              <a:rPr sz="1748" b="0">
                <a:solidFill>
                  <a:srgbClr val="1A1A1A"/>
                </a:solidFill>
                <a:latin typeface="Segoe UI"/>
              </a:rPr>
              <a:t>La réponse détermine le correctif — un </a:t>
            </a:r>
            <a:r>
              <a:rPr sz="1748" b="1">
                <a:solidFill>
                  <a:srgbClr val="1A1A1A"/>
                </a:solidFill>
                <a:latin typeface="Segoe UI"/>
              </a:rPr>
              <a:t>changement interne chez Desjardins</a:t>
            </a:r>
            <a:r>
              <a:rPr sz="1748" b="0">
                <a:solidFill>
                  <a:srgbClr val="1A1A1A"/>
                </a:solidFill>
                <a:latin typeface="Segoe UI"/>
              </a:rPr>
              <a:t> ou un </a:t>
            </a:r>
            <a:r>
              <a:rPr sz="1748" b="1">
                <a:solidFill>
                  <a:srgbClr val="1A1A1A"/>
                </a:solidFill>
                <a:latin typeface="Segoe UI"/>
              </a:rPr>
              <a:t>changement chez le fournisseur, Croesus</a:t>
            </a:r>
            <a:r>
              <a:rPr sz="1748" b="0">
                <a:solidFill>
                  <a:srgbClr val="1A1A1A"/>
                </a:solidFill>
                <a:latin typeface="Segoe UI"/>
              </a:rPr>
              <a:t>.</a:t>
            </a:r>
          </a:p>
          <a:p>
            <a:pPr>
              <a:spcAft>
                <a:spcPts val="1472"/>
              </a:spcAft>
            </a:pPr>
            <a:r>
              <a:rPr sz="1748">
                <a:solidFill>
                  <a:srgbClr val="0067C0"/>
                </a:solidFill>
                <a:latin typeface="Segoe UI"/>
              </a:rPr>
              <a:t>▪  </a:t>
            </a:r>
            <a:r>
              <a:rPr sz="1748" b="0">
                <a:solidFill>
                  <a:srgbClr val="1A1A1A"/>
                </a:solidFill>
                <a:latin typeface="Segoe UI"/>
              </a:rPr>
              <a:t>Personne n'est en faute à ce stade. Le blocage est un contrôle Zero Trust qui fonctionne comme prévu ; l'inconnue est la nature exacte de l'appel bloqué.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OÙ NOUS EN SOMMES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L'essentiel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0">
                <a:solidFill>
                  <a:srgbClr val="1A1A1A"/>
                </a:solidFill>
                <a:latin typeface="Segoe UI"/>
              </a:rPr>
              <a:t>Central est une </a:t>
            </a:r>
            <a:r>
              <a:rPr sz="1564" b="1">
                <a:solidFill>
                  <a:srgbClr val="1A1A1A"/>
                </a:solidFill>
                <a:latin typeface="Segoe UI"/>
              </a:rPr>
              <a:t>application multipage rendue côté serveur</a:t>
            </a:r>
            <a:r>
              <a:rPr sz="1564" b="0">
                <a:solidFill>
                  <a:srgbClr val="1A1A1A"/>
                </a:solidFill>
                <a:latin typeface="Segoe UI"/>
              </a:rPr>
              <a:t> — environ 130 pages .aspx sur .NET Framework 4.5.2. Confirmé par le fournisseur. Ce n'est pas une SPA.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0">
                <a:solidFill>
                  <a:srgbClr val="1A1A1A"/>
                </a:solidFill>
                <a:latin typeface="Segoe UI"/>
              </a:rPr>
              <a:t>La plateforme « spa » des trois inscriptions est donc une </a:t>
            </a:r>
            <a:r>
              <a:rPr sz="1564" b="1">
                <a:solidFill>
                  <a:srgbClr val="1A1A1A"/>
                </a:solidFill>
                <a:latin typeface="Segoe UI"/>
              </a:rPr>
              <a:t>erreur de type</a:t>
            </a:r>
            <a:r>
              <a:rPr sz="1564" b="0">
                <a:solidFill>
                  <a:srgbClr val="1A1A1A"/>
                </a:solidFill>
                <a:latin typeface="Segoe UI"/>
              </a:rPr>
              <a:t>, non une description. Central est déjà un Backend-for-Frontend ; c'est la plateforme « web » qui le dit.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0">
                <a:solidFill>
                  <a:srgbClr val="1A1A1A"/>
                </a:solidFill>
                <a:latin typeface="Segoe UI"/>
              </a:rPr>
              <a:t>Central fonctionne en production : l'échange côté serveur </a:t>
            </a:r>
            <a:r>
              <a:rPr sz="1564" b="1">
                <a:solidFill>
                  <a:srgbClr val="1A1A1A"/>
                </a:solidFill>
                <a:latin typeface="Segoe UI"/>
              </a:rPr>
              <a:t>réussit</a:t>
            </a:r>
            <a:r>
              <a:rPr sz="1564" b="0">
                <a:solidFill>
                  <a:srgbClr val="1A1A1A"/>
                </a:solidFill>
                <a:latin typeface="Segoe UI"/>
              </a:rPr>
              <a:t> alors qu'Entra devrait le refuser. Deux explications subsistent — un en-tête Origin synthétisé, ou une inscription « web » non divulguée. </a:t>
            </a:r>
            <a:r>
              <a:rPr sz="1564" b="1">
                <a:solidFill>
                  <a:srgbClr val="1A1A1A"/>
                </a:solidFill>
                <a:latin typeface="Segoe UI"/>
              </a:rPr>
              <a:t>Q8 est la demande prioritaire.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0">
                <a:solidFill>
                  <a:srgbClr val="1A1A1A"/>
                </a:solidFill>
                <a:latin typeface="Segoe UI"/>
              </a:rPr>
              <a:t>L'écart production / préproduction reste </a:t>
            </a:r>
            <a:r>
              <a:rPr sz="1564" b="1">
                <a:solidFill>
                  <a:srgbClr val="1A1A1A"/>
                </a:solidFill>
                <a:latin typeface="Segoe UI"/>
              </a:rPr>
              <a:t>inexpliqué</a:t>
            </a:r>
            <a:r>
              <a:rPr sz="1564" b="0">
                <a:solidFill>
                  <a:srgbClr val="1A1A1A"/>
                </a:solidFill>
                <a:latin typeface="Segoe UI"/>
              </a:rPr>
              <a:t> — la requête bloquée ne porte aucun contexte d'appareil dans l'un ni l'autre locataire. Desjardins peut trancher seul, cette semaine.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0">
                <a:solidFill>
                  <a:srgbClr val="1A1A1A"/>
                </a:solidFill>
                <a:latin typeface="Segoe UI"/>
              </a:rPr>
              <a:t>Le blocage d'accès conditionnel est </a:t>
            </a:r>
            <a:r>
              <a:rPr sz="1564" b="1">
                <a:solidFill>
                  <a:srgbClr val="1A1A1A"/>
                </a:solidFill>
                <a:latin typeface="Segoe UI"/>
              </a:rPr>
              <a:t>correct par conception</a:t>
            </a:r>
            <a:r>
              <a:rPr sz="1564" b="0">
                <a:solidFill>
                  <a:srgbClr val="1A1A1A"/>
                </a:solidFill>
                <a:latin typeface="Segoe UI"/>
              </a:rPr>
              <a:t>. La mention « Unbound (1008) » est un état de liaison, non une preuve de rejeu ni un indicateur du type d'octroi.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RIGUEUR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Ce que la preuve démontre — et ce qu'elle ne démontre pas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886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3840480"/>
                <a:gridCol w="4251960"/>
              </a:tblGrid>
              <a:tr h="777240"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Observation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Ce que cela démontre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Ce que cela ne démontre PAS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Appels à /oauth2/v2.0/token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Un jeton est demandé au point de terminaison standard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Pas d'OBO. L'échange du code et le renouvellement utilisent le même point de terminaison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État de connexion « Unbound (1008) »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Le client n'est pas intégré au courtier de la plateforme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Pas un rejeu de jeton. Pas un type d'octroi. Hors portée pour navigateur→Graph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L'accès conditionnel a bloqué l'appel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La requête n'avait aucun contexte d'appareil conforme, depuis une IP non approuvée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Rien sur le type d'octroi utilisé — l'accès conditionnel y est indifférent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Les trois inscriptions exportées sont « spa »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Aucun secret, aucun certificat, aucune étendue d'API exposée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Pas l'inventaire complet — d'autres inscriptions peuvent exister (Q8)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ÉTAPE 1 — FAITE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Nouvelle preuve : la trace du navigateur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56" b="0" i="0">
                <a:solidFill>
                  <a:srgbClr val="565656"/>
                </a:solidFill>
                <a:latin typeface="Segoe UI"/>
              </a:rPr>
              <a:t>Un utilisateur de Desjardins a capturé un fichier HAR d'une véritable connexion à Central.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331720"/>
            <a:ext cx="5257800" cy="63500"/>
          </a:xfrm>
          <a:prstGeom prst="rect">
            <a:avLst/>
          </a:prstGeom>
          <a:solidFill>
            <a:srgbClr val="0A7D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0A7D28"/>
                </a:solidFill>
                <a:latin typeface="Segoe UI"/>
              </a:rPr>
              <a:t>Présent dans la trace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/oauth2/v2.0/authorize</a:t>
            </a:r>
          </a:p>
          <a:p>
            <a:pPr>
              <a:spcAft>
                <a:spcPts val="800"/>
              </a:spcAft>
            </a:pPr>
            <a:r>
              <a:rPr sz="1288" b="0">
                <a:solidFill>
                  <a:srgbClr val="1A1A1A"/>
                </a:solidFill>
                <a:latin typeface="Segoe UI"/>
              </a:rPr>
              <a:t>Le volet frontal s'exécute dans le navigateur de l'utilisateur, comme prévu.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331720"/>
            <a:ext cx="5257800" cy="210312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33172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5328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B00020"/>
                </a:solidFill>
                <a:latin typeface="Segoe UI"/>
              </a:rPr>
              <a:t>Absent de la trace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108960"/>
            <a:ext cx="4800600" cy="1142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/oauth2/v2.0/token — aucune occurrence</a:t>
            </a:r>
          </a:p>
          <a:p>
            <a:pPr>
              <a:spcAft>
                <a:spcPts val="800"/>
              </a:spcAft>
            </a:pPr>
            <a:r>
              <a:rPr sz="1288" b="0">
                <a:solidFill>
                  <a:srgbClr val="1A1A1A"/>
                </a:solidFill>
                <a:latin typeface="Segoe UI"/>
              </a:rPr>
              <a:t>Le code quitte le navigateur, mais il est échangé ailleurs.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466344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48" b="1" i="0">
                <a:solidFill>
                  <a:srgbClr val="001B3D"/>
                </a:solidFill>
                <a:latin typeface="Segoe UI"/>
              </a:rPr>
              <a:t>Conclusion : l'échange se fait côté serveur. Cela corrobore le témoignage d'Olivier et écarte l'échange par navigateur pour cette capture.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57800"/>
            <a:ext cx="107899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80" b="0" i="0">
                <a:solidFill>
                  <a:srgbClr val="565656"/>
                </a:solidFill>
                <a:latin typeface="Segoe UI"/>
              </a:rPr>
              <a:t>Conséquence : Desjardins ne peut plus observer l'en-tête Origin — il n'existe désormais que sur la requête sortante de Croesus. Réserve : un seul échantillon, un seul environnement.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CE QUI EN DÉCOULE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L'erreur de type, et les deux explications restantes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72" b="0" i="0">
                <a:solidFill>
                  <a:srgbClr val="565656"/>
                </a:solidFill>
                <a:latin typeface="Segoe UI"/>
              </a:rPr>
              <a:t>Entra rejette l'échange côté serveur d'un code d'autorisation « spa » avec l'erreur AADSTS9002327. Or Central fonctionne en production : l'échange réussit. Deux explications subsistent.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85800" y="2651760"/>
            <a:ext cx="5257800" cy="63500"/>
          </a:xfrm>
          <a:prstGeom prst="rect">
            <a:avLst/>
          </a:prstGeom>
          <a:solidFill>
            <a:srgbClr val="B000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B00020"/>
                </a:solidFill>
                <a:latin typeface="Segoe UI"/>
              </a:rPr>
              <a:t>1 — Un en-tête Origin synthétisé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Un POST de serveur à serveur n'envoie aucun Origin de lui-même.</a:t>
            </a:r>
          </a:p>
          <a:p>
            <a:pPr>
              <a:spcAft>
                <a:spcPts val="800"/>
              </a:spcAft>
            </a:pPr>
            <a:r>
              <a:rPr sz="1288" b="0">
                <a:solidFill>
                  <a:srgbClr val="1A1A1A"/>
                </a:solidFill>
                <a:latin typeface="Segoe UI"/>
              </a:rPr>
              <a:t>S'il y en a un, c'est le code applicatif qui l'ajoute — et un code de type « spa » survit à une règle qu'Entra a écrite pour le refuser.</a:t>
            </a:r>
          </a:p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Correctif : inscrire Central comme client confidentiel « web ». Le prouver avec un secret client — sans bibliothèque ni montée de version — puis durcir avec un certificat.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651760"/>
            <a:ext cx="5257800" cy="283464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6263640" y="2651760"/>
            <a:ext cx="5257800" cy="63500"/>
          </a:xfrm>
          <a:prstGeom prst="rect">
            <a:avLst/>
          </a:prstGeom>
          <a:solidFill>
            <a:srgbClr val="8A6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85292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8A6D00"/>
                </a:solidFill>
                <a:latin typeface="Segoe UI"/>
              </a:rPr>
              <a:t>2 — Une inscription « web » non divulguée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3429000"/>
            <a:ext cx="4800600" cy="18745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Le serveur dorsal s'authentifie hors de nos trois exports.</a:t>
            </a:r>
          </a:p>
          <a:p>
            <a:pPr>
              <a:spcAft>
                <a:spcPts val="800"/>
              </a:spcAft>
            </a:pPr>
            <a:r>
              <a:rPr sz="1288" b="0">
                <a:solidFill>
                  <a:srgbClr val="1A1A1A"/>
                </a:solidFill>
                <a:latin typeface="Segoe UI"/>
              </a:rPr>
              <a:t>La forme est alors déjà correcte, et elle ne nous a simplement jamais été montrée.</a:t>
            </a:r>
          </a:p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Correctif : Croesus divulgue l'inventaire complet (Q8) ; toute accommodation y est circonscrite.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66928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88" b="0" i="1">
                <a:solidFill>
                  <a:srgbClr val="565656"/>
                </a:solidFill>
                <a:latin typeface="Segoe UI"/>
              </a:rPr>
              <a:t>Par ailleurs, et toujours ouvert : la requête bloquée ne porte aucun contexte d'appareil dans l'UN NI L'AUTRE locataire, et pourtant la production passe. C'est à Desjardins de trancher, à partir de son propre inventaire de stratégies et de ses journaux de connexion.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CONTEXTE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Pourquoi la forme de l'inscription compte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4361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4206240"/>
                <a:gridCol w="4160520"/>
              </a:tblGrid>
              <a:tr h="623098"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 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spa (client public)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web (client confidentiel)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Décrit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Un client public de navigateur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Une application web rendue côté serveur / BFF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Justificatif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Aucun — ni secret, ni certificat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Secret ou certificat requis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Échange d'un code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Uniquement depuis une requête de navigateur cross-origin (en-tête Origin)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Depuis un serveur, sans en-tête Origin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Échange côté serveur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Rejeté : AADSTS9002327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Pris en charge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23098"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Durée des jetons d'actualisation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Plafonnée à 24 heures, non glissante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Sans ce plafond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23100"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Ce qu'est réellement Central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Pas ceci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88">
                          <a:solidFill>
                            <a:srgbClr val="1A1A1A"/>
                          </a:solidFill>
                          <a:latin typeface="Segoe UI"/>
                        </a:rPr>
                        <a:t>Ceci — environ 130 pages .aspx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2356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80" b="0" i="1">
                <a:solidFill>
                  <a:srgbClr val="001B3D"/>
                </a:solidFill>
                <a:latin typeface="Segoe UI"/>
              </a:rPr>
              <a:t>« Les jetons émis pour le type de client ‘Single-Page Application’ ne peuvent être échangés que par des requêtes cross-origin. »  — AADSTS9002327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CAPTURE D'ÉCRAN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La même erreur de type, en direct dans la démo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ork-pane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20059" y="1783080"/>
            <a:ext cx="4351577" cy="4663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6419088"/>
            <a:ext cx="6400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96" b="1">
                <a:latin typeface="Segoe UI"/>
                <a:hlinkClick r:id="rId3"/>
              </a:rPr>
              <a:t>▶  L'ouvrir en direct — croesus-spa.azurewebsites.net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À QUI APPARTIENT LA PREUVE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Qui peut répondre à quoi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0"/>
                <a:gridCol w="3291840"/>
                <a:gridCol w="2971800"/>
              </a:tblGrid>
              <a:tr h="617220"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Question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Qui peut répondre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État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Inventaire complet des inscriptions et principaux de service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OUVERT — Q8, demande prioritaire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En-tête Origin sur l'appel /token côté serveur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Croesus seulement — sa requête sortante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Ouvert — Q7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Quelle bibliothèque d'authentification, et montée .NET prévue ?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Ouvert — Q13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Portée de l'accès conditionnel pour Central : prod vs préprod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Desjardins — son inventaire de stratégies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En cours — valeur la plus élevée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En-tête Origin sur un appel /token côté navigateur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Desjardins — outils de développement du navigateur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Écarté — aucun /token dans le HAR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715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88" b="1">
                <a:latin typeface="Segoe UI"/>
                <a:hlinkClick r:id="rId2"/>
              </a:rPr>
              <a:t>Détails : README — qui peut capturer l'en-tête Origin de /token →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CE QUE NOUS DEMANDONS À CROESUS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Les demandes : Q8 d'abord, puis Q7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8580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0067C0"/>
                </a:solidFill>
                <a:latin typeface="Segoe UI"/>
              </a:rPr>
              <a:t>Q8 — inventaire complet des inscriptions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Chaque inscription d'application et principal de service utilisé par GPD Central, tous environnements confondus.</a:t>
            </a:r>
          </a:p>
          <a:p>
            <a:pPr>
              <a:spcAft>
                <a:spcPts val="800"/>
              </a:spcAft>
            </a:pPr>
            <a:r>
              <a:rPr sz="1288" b="0">
                <a:solidFill>
                  <a:srgbClr val="1A1A1A"/>
                </a:solidFill>
                <a:latin typeface="Segoe UI"/>
              </a:rPr>
              <a:t>Y compris toute inscription confidentielle web/API absente des trois exports « spa » que nous détenons.</a:t>
            </a:r>
          </a:p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Une seule réponse sépare les deux explications restantes. C'est la voie la plus rapide vers une configuration prise en charge.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874519"/>
            <a:ext cx="5257800" cy="3108960"/>
          </a:xfrm>
          <a:prstGeom prst="roundRect">
            <a:avLst/>
          </a:prstGeom>
          <a:solidFill>
            <a:srgbClr val="FFFFFF"/>
          </a:solidFill>
          <a:ln>
            <a:solidFill>
              <a:srgbClr val="E1E5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6263640" y="1874519"/>
            <a:ext cx="5257800" cy="6350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92240" y="2075688"/>
            <a:ext cx="4800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0067C0"/>
                </a:solidFill>
                <a:latin typeface="Segoe UI"/>
              </a:rPr>
              <a:t>Q7 — une capture /token caviardée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0" y="2651760"/>
            <a:ext cx="4800600" cy="21488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Pour une transaction réussie et une transaction en échec :</a:t>
            </a:r>
          </a:p>
          <a:p>
            <a:pPr>
              <a:spcAft>
                <a:spcPts val="800"/>
              </a:spcAft>
            </a:pPr>
            <a:r>
              <a:rPr sz="1288" b="0">
                <a:solidFill>
                  <a:srgbClr val="1A1A1A"/>
                </a:solidFill>
                <a:latin typeface="Segoe UI"/>
              </a:rPr>
              <a:t>Un en-tête Origin est-il présent ?  •  grant_type  •  client_id  •  URI de redirection  •  méthode d'authentification du client</a:t>
            </a:r>
          </a:p>
          <a:p>
            <a:pPr>
              <a:spcAft>
                <a:spcPts val="800"/>
              </a:spcAft>
            </a:pPr>
            <a:r>
              <a:rPr sz="1288" b="1">
                <a:solidFill>
                  <a:srgbClr val="1A1A1A"/>
                </a:solidFill>
                <a:latin typeface="Segoe UI"/>
              </a:rPr>
              <a:t>Indicateurs de présence ou empreintes SHA-256 uniquement. Jamais de codes, jetons, secrets ou assertions bruts.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5166360"/>
            <a:ext cx="10789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80" b="0" i="0">
                <a:solidFill>
                  <a:srgbClr val="565656"/>
                </a:solidFill>
                <a:latin typeface="Segoe UI"/>
              </a:rPr>
              <a:t>Également ouvertes : Q13 bibliothèque d'authentification et feuille de route .NET  •  Q10 ampleur du changement  •  Q12 acheminer les appels Entra par le VPN site à site existant  •  Q4 plages de sortie AWS  •  Q9 Conseiller partage-t-il quoi que ce soit avec Central ?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5715000"/>
            <a:ext cx="8229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64" b="1">
                <a:latin typeface="Segoe UI"/>
                <a:hlinkClick r:id="rId2"/>
              </a:rPr>
              <a:t>▶  Liste complète des questions Q1–Q14 sur GitHub →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HUIT VOIES, CLASSÉES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Échelle de remédiation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920240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1">
                <a:solidFill>
                  <a:srgbClr val="1A1A1A"/>
                </a:solidFill>
                <a:latin typeface="Segoe UI"/>
              </a:rPr>
              <a:t>Vérifier d'abord la parité des locataires — Desjardins seul.</a:t>
            </a:r>
            <a:r>
              <a:rPr sz="1564" b="0">
                <a:solidFill>
                  <a:srgbClr val="1A1A1A"/>
                </a:solidFill>
                <a:latin typeface="Segoe UI"/>
              </a:rPr>
              <a:t> Comparer la portée de l'accès conditionnel appliqué à Central en production et en préproduction. Aucune dépendance au fournisseur, et cela pourrait tout régler.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1">
                <a:solidFill>
                  <a:srgbClr val="1A1A1A"/>
                </a:solidFill>
                <a:latin typeface="Segoe UI"/>
              </a:rPr>
              <a:t>Acheminer les appels Entra par le VPN site à site existant (Q12).</a:t>
            </a:r>
            <a:r>
              <a:rPr sz="1564" b="0">
                <a:solidFill>
                  <a:srgbClr val="1A1A1A"/>
                </a:solidFill>
                <a:latin typeface="Segoe UI"/>
              </a:rPr>
              <a:t> La requête /token sort alors d'une adresse appartenant à Desjardins. Aucun changement de code chez Croesus — le levier à court terme le plus fort.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1">
                <a:solidFill>
                  <a:srgbClr val="1A1A1A"/>
                </a:solidFill>
                <a:latin typeface="Segoe UI"/>
              </a:rPr>
              <a:t>Corriger la forme de l'inscription — spa → web.</a:t>
            </a:r>
            <a:r>
              <a:rPr sz="1564" b="0">
                <a:solidFill>
                  <a:srgbClr val="1A1A1A"/>
                </a:solidFill>
                <a:latin typeface="Segoe UI"/>
              </a:rPr>
              <a:t> Par étapes : un secret client le prouve sans bibliothèque ni montée de version ; un certificat le durcit ensuite. Par locataire, donc Desjardins peut avancer en premier.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1">
                <a:solidFill>
                  <a:srgbClr val="1A1A1A"/>
                </a:solidFill>
                <a:latin typeface="Segoe UI"/>
              </a:rPr>
              <a:t>Écarter la confiance d'appareil comme levier.</a:t>
            </a:r>
            <a:r>
              <a:rPr sz="1564" b="0">
                <a:solidFill>
                  <a:srgbClr val="1A1A1A"/>
                </a:solidFill>
                <a:latin typeface="Segoe UI"/>
              </a:rPr>
              <a:t> « Approuver les appareils conformes » entre locataires ne s'applique qu'à une connexion d'invité B2B. Les postes ne joignent qu'un seul locataire — la production — donc en préproduction « exiger un appareil conforme » est insatisfiable, et non simplement sévère.</a:t>
            </a:r>
          </a:p>
          <a:p>
            <a:pPr>
              <a:spcAft>
                <a:spcPts val="1288"/>
              </a:spcAft>
            </a:pPr>
            <a:r>
              <a:rPr sz="1564">
                <a:solidFill>
                  <a:srgbClr val="0067C0"/>
                </a:solidFill>
                <a:latin typeface="Segoe UI"/>
              </a:rPr>
              <a:t>▪  </a:t>
            </a:r>
            <a:r>
              <a:rPr sz="1564" b="1">
                <a:solidFill>
                  <a:srgbClr val="1A1A1A"/>
                </a:solidFill>
                <a:latin typeface="Segoe UI"/>
              </a:rPr>
              <a:t>Un emplacement nommé est une condition, pas un octroi.</a:t>
            </a:r>
            <a:r>
              <a:rPr sz="1564" b="0">
                <a:solidFill>
                  <a:srgbClr val="1A1A1A"/>
                </a:solidFill>
                <a:latin typeface="Segoe UI"/>
              </a:rPr>
              <a:t> Les contrôles d'octroi se combinent avec ET : un emplacement approuvé ne satisfait pas une exigence d'appareil conforme. On-Behalf-Of reste une option, pas une obligation.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IMPLÉMENTATION DE RÉFÉRENCE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La démo fonctionnelle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1874519"/>
            <a:ext cx="107899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04"/>
              </a:spcAft>
            </a:pPr>
            <a:r>
              <a:rPr sz="1472">
                <a:solidFill>
                  <a:srgbClr val="0067C0"/>
                </a:solidFill>
                <a:latin typeface="Segoe UI"/>
              </a:rPr>
              <a:t>▪  </a:t>
            </a:r>
            <a:r>
              <a:rPr sz="1472" b="0">
                <a:solidFill>
                  <a:srgbClr val="1A1A1A"/>
                </a:solidFill>
                <a:latin typeface="Segoe UI"/>
              </a:rPr>
              <a:t>Une application monopage et une API en direct dans un locataire de démonstration Microsoft, qui rendent les formes du flux observables — rien ne s'exécute contre les locataires de Desjardins ou de Croesus.</a:t>
            </a:r>
          </a:p>
          <a:p>
            <a:pPr>
              <a:spcAft>
                <a:spcPts val="1104"/>
              </a:spcAft>
            </a:pPr>
            <a:r>
              <a:rPr sz="1472">
                <a:solidFill>
                  <a:srgbClr val="0067C0"/>
                </a:solidFill>
                <a:latin typeface="Segoe UI"/>
              </a:rPr>
              <a:t>▪  </a:t>
            </a:r>
            <a:r>
              <a:rPr sz="1472" b="1">
                <a:solidFill>
                  <a:srgbClr val="1A1A1A"/>
                </a:solidFill>
                <a:latin typeface="Segoe UI"/>
              </a:rPr>
              <a:t>Le mauvais et le bon :</a:t>
            </a:r>
            <a:r>
              <a:rPr sz="1472" b="0">
                <a:solidFill>
                  <a:srgbClr val="1A1A1A"/>
                </a:solidFill>
                <a:latin typeface="Segoe UI"/>
              </a:rPr>
              <a:t> un rejeu de jeton vers Microsoft Graph est rejeté sur l'audience, tandis qu'un véritable échange On-Behalf-Of émet un jeton distinct, avec sa propre audience.</a:t>
            </a:r>
          </a:p>
          <a:p>
            <a:pPr>
              <a:spcAft>
                <a:spcPts val="1104"/>
              </a:spcAft>
            </a:pPr>
            <a:r>
              <a:rPr sz="1472">
                <a:solidFill>
                  <a:srgbClr val="0067C0"/>
                </a:solidFill>
                <a:latin typeface="Segoe UI"/>
              </a:rPr>
              <a:t>▪  </a:t>
            </a:r>
            <a:r>
              <a:rPr sz="1472" b="1">
                <a:solidFill>
                  <a:srgbClr val="1A1A1A"/>
                </a:solidFill>
                <a:latin typeface="Segoe UI"/>
              </a:rPr>
              <a:t>L'erreur de type d'inscription :</a:t>
            </a:r>
            <a:r>
              <a:rPr sz="1472" b="0">
                <a:solidFill>
                  <a:srgbClr val="1A1A1A"/>
                </a:solidFill>
                <a:latin typeface="Segoe UI"/>
              </a:rPr>
              <a:t> un panneau explique « spa » contre « web » et le comportement AADSTS9002327, avec des liens directs vers Q8 et Q7.</a:t>
            </a:r>
          </a:p>
          <a:p>
            <a:pPr>
              <a:spcAft>
                <a:spcPts val="1104"/>
              </a:spcAft>
            </a:pPr>
            <a:r>
              <a:rPr sz="1472">
                <a:solidFill>
                  <a:srgbClr val="0067C0"/>
                </a:solidFill>
                <a:latin typeface="Segoe UI"/>
              </a:rPr>
              <a:t>▪  </a:t>
            </a:r>
            <a:r>
              <a:rPr sz="1472" b="1">
                <a:solidFill>
                  <a:srgbClr val="1A1A1A"/>
                </a:solidFill>
                <a:latin typeface="Segoe UI"/>
              </a:rPr>
              <a:t>Inspecteur de jetons et panneau de preuve :</a:t>
            </a:r>
            <a:r>
              <a:rPr sz="1472" b="0">
                <a:solidFill>
                  <a:srgbClr val="1A1A1A"/>
                </a:solidFill>
                <a:latin typeface="Segoe UI"/>
              </a:rPr>
              <a:t> les revendications décodées montrent une liaison d'audience plutôt qu'un jeton réutilisé. L'inspecteur de jetons bruts est désactivé par défaut — nous demandons des empreintes au fournisseur, nous ne faisons donc pas la démonstration de la copie de jetons vivants.</a:t>
            </a:r>
          </a:p>
          <a:p>
            <a:pPr>
              <a:spcAft>
                <a:spcPts val="1104"/>
              </a:spcAft>
            </a:pPr>
            <a:r>
              <a:rPr sz="1472">
                <a:solidFill>
                  <a:srgbClr val="0067C0"/>
                </a:solidFill>
                <a:latin typeface="Segoe UI"/>
              </a:rPr>
              <a:t>▪  </a:t>
            </a:r>
            <a:r>
              <a:rPr sz="1472" b="1">
                <a:solidFill>
                  <a:srgbClr val="1A1A1A"/>
                </a:solidFill>
                <a:latin typeface="Segoe UI"/>
              </a:rPr>
              <a:t>Pièces de niveau 2 (sous drapeau) :</a:t>
            </a:r>
            <a:r>
              <a:rPr sz="1472" b="0">
                <a:solidFill>
                  <a:srgbClr val="1A1A1A"/>
                </a:solidFill>
                <a:latin typeface="Segoe UI"/>
              </a:rPr>
              <a:t> un contrôle de rejeu côté serveur, et une politique Token Protection en mode rapport seul qui reproduit le signal 1008 réel sur une ressource prise en charge.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44068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2"/>
              </a:rPr>
              <a:t>▶  Ouvrir la démo — croesus-spa.azurewebsites.net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852160"/>
            <a:ext cx="5943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3"/>
              </a:rPr>
              <a:t>▶  Guide de la démonstration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5440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4"/>
              </a:rPr>
              <a:t>▶  Récit de la preuve (correspondance question par question)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585216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5"/>
              </a:rPr>
              <a:t>▶  Requêtes KQL de preuve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EN SORTANT DE CETTE SÉANCE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Prochaines étapes et responsables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" y="1920240"/>
          <a:ext cx="10835640" cy="3703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8640"/>
                <a:gridCol w="4937760"/>
                <a:gridCol w="1737360"/>
                <a:gridCol w="3611880"/>
              </a:tblGrid>
              <a:tr h="617220"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Action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Responsable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 b="1">
                          <a:solidFill>
                            <a:srgbClr val="FFFFFF"/>
                          </a:solidFill>
                          <a:latin typeface="Segoe UI"/>
                        </a:rPr>
                        <a:t>Referme</a:t>
                      </a:r>
                    </a:p>
                  </a:txBody>
                  <a:tcPr anchor="ctr">
                    <a:solidFill>
                      <a:srgbClr val="001B3D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Comparer la portée de l'accès conditionnel pour Central entre production et préproduction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Desjardins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Peut tout régler — sans attendre le fournisseur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Fournir l'inventaire complet des inscriptions et principaux de service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Q8 — prioritaire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Fournir une capture /token caviardée (empreintes ou présence seulement)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Q7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Confirmer la bibliothèque d'authentification et toute montée de version .NET prévue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Croesus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Q13</a:t>
                      </a:r>
                    </a:p>
                  </a:txBody>
                  <a:tcPr anchor="ctr">
                    <a:solidFill>
                      <a:srgbClr val="F2F6FA"/>
                    </a:solidFill>
                  </a:tcPr>
                </a:tc>
              </a:tr>
              <a:tr h="617220"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Évaluer l'acheminement des appels Entra par le VPN site à site existant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Conjoint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96">
                          <a:solidFill>
                            <a:srgbClr val="1A1A1A"/>
                          </a:solidFill>
                          <a:latin typeface="Segoe UI"/>
                        </a:rPr>
                        <a:t>Q12 — déblocage le plus rapide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85800" y="5669280"/>
            <a:ext cx="10789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64" b="1" i="0">
                <a:solidFill>
                  <a:srgbClr val="B00020"/>
                </a:solidFill>
                <a:latin typeface="Segoe UI"/>
              </a:rPr>
              <a:t>Garde-fou d'ici là : ne pas modifier l'accès conditionnel, ne pas mettre les IP de sortie AWS en liste d'autorisation, ne pas imposer On-Behalf-Of, et ne rien généraliser à Conseiller.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84048"/>
            <a:ext cx="108813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4" b="1" i="0">
                <a:solidFill>
                  <a:srgbClr val="0067C0"/>
                </a:solidFill>
                <a:latin typeface="Segoe UI"/>
              </a:rPr>
              <a:t>TOUT CE QUI EST RÉFÉRENCÉ DANS CETTE PRÉSENTATION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685800"/>
            <a:ext cx="108813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944" b="1" i="0">
                <a:solidFill>
                  <a:srgbClr val="001B3D"/>
                </a:solidFill>
                <a:latin typeface="Segoe UI"/>
              </a:rPr>
              <a:t>Liens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481328"/>
            <a:ext cx="10881360" cy="31750"/>
          </a:xfrm>
          <a:prstGeom prst="rect">
            <a:avLst/>
          </a:prstGeom>
          <a:solidFill>
            <a:srgbClr val="0067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874519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2"/>
              </a:rPr>
              <a:t>▶  Constats de la séance et les huit voies — COMMENCER ICI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331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3"/>
              </a:rPr>
              <a:t>▶  Voies et contournements (R1–R8)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788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4"/>
              </a:rPr>
              <a:t>▶  Liste des questions Q1–Q14 (dossier d'escalade)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246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5"/>
              </a:rPr>
              <a:t>▶  Dossier d'escalade — document complet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3703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6"/>
              </a:rPr>
              <a:t>▶  Analyse complète — README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41605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7"/>
              </a:rPr>
              <a:t>▶  Qui peut capturer l'en-tête Origin de /token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177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8"/>
              </a:rPr>
              <a:t>▶  Récit de la preuve — correspondance question par 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50749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9"/>
              </a:rPr>
              <a:t>▶  Guide de démonstration On-Behalf-Of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55321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10"/>
              </a:rPr>
              <a:t>▶  Requêtes KQL de preuve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5989320"/>
            <a:ext cx="10515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72" b="1">
                <a:latin typeface="Segoe UI"/>
                <a:hlinkClick r:id="rId11"/>
              </a:rPr>
              <a:t>▶  Application de démonstration en direct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